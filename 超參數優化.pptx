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147378729" r:id="rId2"/>
    <p:sldId id="2147378730" r:id="rId3"/>
    <p:sldId id="2147378732" r:id="rId4"/>
    <p:sldId id="2147378746" r:id="rId5"/>
    <p:sldId id="2147378735" r:id="rId6"/>
    <p:sldId id="2147378737" r:id="rId7"/>
    <p:sldId id="2147378738" r:id="rId8"/>
    <p:sldId id="2147378739" r:id="rId9"/>
    <p:sldId id="2147378740" r:id="rId10"/>
    <p:sldId id="2147378731" r:id="rId11"/>
    <p:sldId id="2147378755" r:id="rId12"/>
    <p:sldId id="2147378756" r:id="rId13"/>
    <p:sldId id="2147378734" r:id="rId14"/>
    <p:sldId id="2147378747" r:id="rId15"/>
    <p:sldId id="2147378736" r:id="rId16"/>
    <p:sldId id="2147378741" r:id="rId17"/>
    <p:sldId id="2147378742" r:id="rId18"/>
    <p:sldId id="2147378743" r:id="rId19"/>
    <p:sldId id="2147378744" r:id="rId20"/>
    <p:sldId id="2147378749" r:id="rId21"/>
    <p:sldId id="214737874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淺色樣式 1 - 輔色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23" autoAdjust="0"/>
    <p:restoredTop sz="94660"/>
  </p:normalViewPr>
  <p:slideViewPr>
    <p:cSldViewPr snapToGrid="0">
      <p:cViewPr varScale="1">
        <p:scale>
          <a:sx n="47" d="100"/>
          <a:sy n="47" d="100"/>
        </p:scale>
        <p:origin x="984" y="4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F83C87-A95B-4173-A820-3FD3601EE312}" type="datetimeFigureOut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937C53-0467-423D-8D43-0893385CD0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3763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4CC7E-A192-B219-903C-3788F23EF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BEB1338-1B07-2401-2BA9-44D3C385C1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9E294F9-2762-1063-E341-62B2977BD9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33E5E58-875A-F6CB-15FA-E98616D3F5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937C53-0467-423D-8D43-0893385CD01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1867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E3965-0530-367D-7755-E8E901BC5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7FEF4D1-3F12-61A7-E020-E892F57B16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0375BB4-F081-1F48-9768-FF7B8EA7E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1ED295-0AF2-1F75-4C8C-DCA1565ABB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937C53-0467-423D-8D43-0893385CD0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44044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C20E6-425E-3D8A-A692-658DD00D3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60A3B31-A16F-CDFE-3D9B-13ECF486FA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931011D-A184-C64D-7CE0-4F2814F044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97F081-6DF3-F8FC-A1A6-553EB40AA0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937C53-0467-423D-8D43-0893385CD01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0923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DAD62-B853-637C-938E-2AF6F34F0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62E26E6-FB4A-3E5D-6E63-939CF91623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3D72C3A-FCF8-6651-6D20-827A3B3E4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4967115-2982-E13C-48E8-E2FE06D896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937C53-0467-423D-8D43-0893385CD01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742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98307-5511-4C40-88A4-C663B6CF8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9CF896-D90C-D050-2BAC-99487E224C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5607B26-EF66-5BFC-0C5C-A2FD6DD87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3F543D8-865B-0C23-0D8B-E173F1DE87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937C53-0467-423D-8D43-0893385CD01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65916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B79FA-28C8-231C-8479-BEC8A5867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5BA91B2-C079-6FB7-5A63-CFE4222B60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7A556E3-9875-DD23-41D5-E58F3E09B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5E4681D-921C-550E-C532-DC250AFF11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937C53-0467-423D-8D43-0893385CD01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0849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84C02-2EB7-44C2-EB43-A0EEF687B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2DE6D57-CBA9-C2D5-58D5-6EFDFF2599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7F45240-D64E-6EF0-1A4E-178303095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EB4D29A-059D-009D-554C-6F47C465EB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937C53-0467-423D-8D43-0893385CD01E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28582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7D80A-3E82-3A36-3F4A-97FDA077A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EF6CEA9-B8D1-2F5A-62C7-DC6AF6F86A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D668474-A985-B59C-7FC0-8FA4D32751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3F3F91-DD68-DD9F-2526-04F494DCC6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937C53-0467-423D-8D43-0893385CD01E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87177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9E94E-010A-DE8F-C136-1833C9981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7A46DFF-8F6A-EA24-9927-2F55E7D0B8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F653AEB-68F2-D127-C4C9-496BED13A7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697AF53-97C2-CE77-7681-65A9B38EEB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937C53-0467-423D-8D43-0893385CD01E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26492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A45D6-B9DA-2BB3-B233-48C53658C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8D145CB-34E7-F7D9-953E-AEB713362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5182CA8-CD97-656B-D0C5-CCD88039DE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4F7CAB5-087C-07D5-EDE3-E3A4B90F95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937C53-0467-423D-8D43-0893385CD01E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02797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8822F-035D-1C11-4832-A20B0E969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500CF99-51B4-5976-81BA-32B189505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9B3C657-2E9B-2401-D745-B325A9E8A3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57229F-BF30-C7D9-2CF3-6247627CEB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937C53-0467-423D-8D43-0893385CD01E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40567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4CECC-DC0A-34CF-4513-CE90A467E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51FD96F-33C4-8FF3-4E80-F7516E0BF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7F1946F-82E2-6BB4-E587-6E8CAFDF3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F67E50-9C5F-F610-CD53-8FA9A02A7E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937C53-0467-423D-8D43-0893385CD01E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3668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26057-5BE3-165E-D871-F5C623976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C5153A8-8F1C-9F11-9189-804D8AA0ED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1F8384B-E375-AB07-F882-37D59B79E0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72A1732-9EDA-0086-3515-3E8B03D2A7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937C53-0467-423D-8D43-0893385CD01E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06343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44BAF-4384-F41F-F354-A228051AB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C32F8A4-4656-4B29-E14F-66A8359B7D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FE3C0D7-FCED-3212-BE78-0731063A22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1099CE-0992-4E04-F355-827ABFC54C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937C53-0467-423D-8D43-0893385CD01E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80144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546CB-9FC8-6471-39CD-CB32BD02E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2257C97-E1A3-C4F8-3C7E-F6C373839E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A07C16B-273E-B2D3-34E7-9B1D727C94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DDB215-D5F3-1D3F-06FA-DC9FFD1DF4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937C53-0467-423D-8D43-0893385CD01E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42665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121FD-CE27-A778-FE73-EAD3ABADE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F4E84CF-37E7-602A-5890-A7A0A3EDB9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3D77CD5-261E-644C-A7B1-0399C486A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DED75B1-84FF-5217-B45B-B505DD939A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937C53-0467-423D-8D43-0893385CD01E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01765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99A9A-7134-E6B3-DB88-CD8950966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2AC15AB-ACFA-714F-CD10-425A74A281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3C48830-98A9-6E8D-82A1-B975118C80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5A89646-03E9-D2EA-674C-38CD0E57A7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937C53-0467-423D-8D43-0893385CD01E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46249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43462-DD55-7249-9EC8-A99F043F8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559AA99-59FF-9C71-A028-DE7DB68AB4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41DF37A-8202-4C25-A232-CBB97C9555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0CC8076-8B40-091F-EC09-9C42BCDB31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937C53-0467-423D-8D43-0893385CD01E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76355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96689-BCC3-3274-0A7C-195256B1C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3FFC2C8-B3A3-AA22-1DCC-D4499D498C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68C1EE2-3678-B101-60A8-1F16C87C68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58179C2-78C2-3556-A2F0-E42352FA39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937C53-0467-423D-8D43-0893385CD01E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05967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9D5F3-9F81-144F-A513-DE23A5274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868BB9B-09E7-28A9-4D66-496C18D2AD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97B3F48-2CAB-13C5-FC40-C4126F332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B329DD-F9AF-0332-BFEA-9EB484C606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937C53-0467-423D-8D43-0893385CD01E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20235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DFA66-D3A0-7140-B502-2841A1AE9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CF7FF7A-ABC5-B4EC-22E2-677110D7D1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4B99534-2285-FB90-8E5D-159B87D0DA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00A2AA-D9C2-025D-B76E-AFAB58D197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937C53-0467-423D-8D43-0893385CD01E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2187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6D35-2F73-483B-B5A7-B3D81D46758D}" type="datetimeFigureOut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F833C-9883-45C7-8E2F-6D2EB59D5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0314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6D35-2F73-483B-B5A7-B3D81D46758D}" type="datetimeFigureOut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F833C-9883-45C7-8E2F-6D2EB59D5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5674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6D35-2F73-483B-B5A7-B3D81D46758D}" type="datetimeFigureOut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F833C-9883-45C7-8E2F-6D2EB59D5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0358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6D35-2F73-483B-B5A7-B3D81D46758D}" type="datetimeFigureOut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F833C-9883-45C7-8E2F-6D2EB59D5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7509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6D35-2F73-483B-B5A7-B3D81D46758D}" type="datetimeFigureOut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F833C-9883-45C7-8E2F-6D2EB59D5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1753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6D35-2F73-483B-B5A7-B3D81D46758D}" type="datetimeFigureOut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F833C-9883-45C7-8E2F-6D2EB59D5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9965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6D35-2F73-483B-B5A7-B3D81D46758D}" type="datetimeFigureOut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F833C-9883-45C7-8E2F-6D2EB59D5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7229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6D35-2F73-483B-B5A7-B3D81D46758D}" type="datetimeFigureOut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F833C-9883-45C7-8E2F-6D2EB59D5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8799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6D35-2F73-483B-B5A7-B3D81D46758D}" type="datetimeFigureOut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F833C-9883-45C7-8E2F-6D2EB59D5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7204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6D35-2F73-483B-B5A7-B3D81D46758D}" type="datetimeFigureOut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F833C-9883-45C7-8E2F-6D2EB59D5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1838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6D35-2F73-483B-B5A7-B3D81D46758D}" type="datetimeFigureOut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F833C-9883-45C7-8E2F-6D2EB59D5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1597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6D35-2F73-483B-B5A7-B3D81D46758D}" type="datetimeFigureOut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F833C-9883-45C7-8E2F-6D2EB59D59B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601365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6D35-2F73-483B-B5A7-B3D81D46758D}" type="datetimeFigureOut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F833C-9883-45C7-8E2F-6D2EB59D5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09407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6D35-2F73-483B-B5A7-B3D81D46758D}" type="datetimeFigureOut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F833C-9883-45C7-8E2F-6D2EB59D5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95247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6D35-2F73-483B-B5A7-B3D81D46758D}" type="datetimeFigureOut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F833C-9883-45C7-8E2F-6D2EB59D5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2241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6D35-2F73-483B-B5A7-B3D81D46758D}" type="datetimeFigureOut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F833C-9883-45C7-8E2F-6D2EB59D5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60531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6D35-2F73-483B-B5A7-B3D81D46758D}" type="datetimeFigureOut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F833C-9883-45C7-8E2F-6D2EB59D5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740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" Target="../slides/slide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F6E6D35-2F73-483B-B5A7-B3D81D46758D}" type="datetimeFigureOut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02F833C-9883-45C7-8E2F-6D2EB59D59B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矩形: 按鈕形 6">
            <a:hlinkClick r:id="rId19" action="ppaction://hlinksldjump"/>
            <a:extLst>
              <a:ext uri="{FF2B5EF4-FFF2-40B4-BE49-F238E27FC236}">
                <a16:creationId xmlns:a16="http://schemas.microsoft.com/office/drawing/2014/main" id="{99D2C7D5-BE0B-E1C6-9EA1-ECC1DD6B7316}"/>
              </a:ext>
            </a:extLst>
          </p:cNvPr>
          <p:cNvSpPr/>
          <p:nvPr userDrawn="1"/>
        </p:nvSpPr>
        <p:spPr>
          <a:xfrm>
            <a:off x="11406909" y="6613236"/>
            <a:ext cx="785091" cy="244764"/>
          </a:xfrm>
          <a:prstGeom prst="bevel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00" dirty="0"/>
              <a:t>返回目錄</a:t>
            </a:r>
          </a:p>
        </p:txBody>
      </p:sp>
    </p:spTree>
    <p:extLst>
      <p:ext uri="{BB962C8B-B14F-4D97-AF65-F5344CB8AC3E}">
        <p14:creationId xmlns:p14="http://schemas.microsoft.com/office/powerpoint/2010/main" val="32134048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DA120-CFEB-A54F-A05E-AA1813A85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A87072-D222-2934-1D9D-56FE2BEAA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2962100"/>
            <a:ext cx="9440034" cy="933799"/>
          </a:xfrm>
        </p:spPr>
        <p:txBody>
          <a:bodyPr>
            <a:normAutofit/>
          </a:bodyPr>
          <a:lstStyle/>
          <a:p>
            <a:pPr lvl="0" defTabSz="914400">
              <a:defRPr/>
            </a:pPr>
            <a:r>
              <a:rPr lang="zh-TW" altLang="en-US" dirty="0">
                <a:ln>
                  <a:noFill/>
                </a:ln>
                <a:solidFill>
                  <a:srgbClr val="FFFFFF"/>
                </a:solidFill>
                <a:effectLst/>
                <a:latin typeface="微軟正黑體" panose="020B0604030504040204" pitchFamily="34" charset="-120"/>
                <a:cs typeface="Segoe UI" panose="020B0502040204020203" pitchFamily="34" charset="0"/>
              </a:rPr>
              <a:t>超參數調配優化</a:t>
            </a:r>
          </a:p>
        </p:txBody>
      </p:sp>
    </p:spTree>
    <p:extLst>
      <p:ext uri="{BB962C8B-B14F-4D97-AF65-F5344CB8AC3E}">
        <p14:creationId xmlns:p14="http://schemas.microsoft.com/office/powerpoint/2010/main" val="3916617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C8E24-617A-97DC-063E-058E0EDE3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B88632-7CEE-2534-2A00-6344998A96E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252B3F18-FD50-9861-DFD4-97A91BDD093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97E2A299-A3F4-3026-74B8-1044D7EC2BB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lvl="0">
              <a:defRPr/>
            </a:pPr>
            <a:r>
              <a:rPr kumimoji="0" lang="en-US" altLang="zh-TW" sz="2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rPr>
              <a:t>Non-dominated Sorting Genetic Algorithm II</a:t>
            </a: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2B23E01D-3E6C-D418-7797-728C58D126BA}"/>
              </a:ext>
            </a:extLst>
          </p:cNvPr>
          <p:cNvGrpSpPr/>
          <p:nvPr/>
        </p:nvGrpSpPr>
        <p:grpSpPr>
          <a:xfrm>
            <a:off x="196593" y="1335701"/>
            <a:ext cx="11798814" cy="4186597"/>
            <a:chOff x="1168400" y="1319467"/>
            <a:chExt cx="8880072" cy="3150934"/>
          </a:xfrm>
        </p:grpSpPr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EE6FC7A9-B1BE-5B4B-D509-9DD78C2B71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591" b="48464"/>
            <a:stretch>
              <a:fillRect/>
            </a:stretch>
          </p:blipFill>
          <p:spPr>
            <a:xfrm>
              <a:off x="1168400" y="1319467"/>
              <a:ext cx="4572000" cy="3150934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641E7434-B97E-892E-B3FF-F781FFC2D7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1240"/>
            <a:stretch>
              <a:fillRect/>
            </a:stretch>
          </p:blipFill>
          <p:spPr>
            <a:xfrm>
              <a:off x="5740400" y="1319467"/>
              <a:ext cx="4308072" cy="3150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14310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507CA-6DBD-8C94-CDB5-9053D983F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5DD56A-10B6-8E52-37BE-FA018C3DE19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E3D53FA8-781A-C802-4400-46C88884958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CBCAB055-8EFB-601E-04D3-EE16186E088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lvl="0">
              <a:defRPr/>
            </a:pPr>
            <a:r>
              <a:rPr lang="zh-TW" altLang="en-US" sz="2900" dirty="0">
                <a:solidFill>
                  <a:srgbClr val="FFFFFF"/>
                </a:solidFill>
              </a:rPr>
              <a:t>帕累托前緣曲線結果與最佳化超參數結果呈現 </a:t>
            </a:r>
            <a:r>
              <a:rPr lang="en-US" altLang="zh-TW" sz="2900" dirty="0">
                <a:solidFill>
                  <a:srgbClr val="FFFFFF"/>
                </a:solidFill>
              </a:rPr>
              <a:t>(1)</a:t>
            </a: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3EC2E31-1AD1-DF7D-C37E-5A77528E6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633" y="2261419"/>
            <a:ext cx="5916457" cy="4332793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4032B0FB-E9E9-7DCE-0E9A-63AF373CD302}"/>
              </a:ext>
            </a:extLst>
          </p:cNvPr>
          <p:cNvSpPr txBox="1"/>
          <p:nvPr/>
        </p:nvSpPr>
        <p:spPr>
          <a:xfrm>
            <a:off x="349358" y="699083"/>
            <a:ext cx="5962749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# -----------------------------------------------------------</a:t>
            </a:r>
          </a:p>
          <a:p>
            <a:r>
              <a:rPr lang="en-US" altLang="zh-TW" sz="1000" dirty="0"/>
              <a:t># </a:t>
            </a:r>
            <a:r>
              <a:rPr lang="zh-TW" altLang="en-US" sz="1000" dirty="0"/>
              <a:t>模擬多維度 </a:t>
            </a:r>
            <a:r>
              <a:rPr lang="en-US" altLang="zh-TW" sz="1000" dirty="0"/>
              <a:t>AMR </a:t>
            </a:r>
            <a:r>
              <a:rPr lang="zh-TW" altLang="en-US" sz="1000" dirty="0"/>
              <a:t>黑盒評價方程 </a:t>
            </a:r>
            <a:r>
              <a:rPr lang="en-US" altLang="zh-TW" sz="1000" dirty="0"/>
              <a:t>(</a:t>
            </a:r>
            <a:r>
              <a:rPr lang="zh-TW" altLang="en-US" sz="1000" dirty="0"/>
              <a:t>綜合考慮物理動態與控制</a:t>
            </a:r>
            <a:r>
              <a:rPr lang="en-US" altLang="zh-TW" sz="1000" dirty="0"/>
              <a:t>):</a:t>
            </a:r>
          </a:p>
          <a:p>
            <a:r>
              <a:rPr lang="en-US" altLang="zh-TW" sz="1000" dirty="0"/>
              <a:t># -----------------------------------------------------------</a:t>
            </a:r>
          </a:p>
          <a:p>
            <a:r>
              <a:rPr lang="en-US" altLang="zh-TW" sz="1000" dirty="0"/>
              <a:t># 1. </a:t>
            </a:r>
            <a:r>
              <a:rPr lang="zh-TW" altLang="en-US" sz="1000" dirty="0"/>
              <a:t>執行時間 </a:t>
            </a:r>
            <a:r>
              <a:rPr lang="en-US" altLang="zh-TW" sz="1000" dirty="0"/>
              <a:t>Time: </a:t>
            </a:r>
            <a:r>
              <a:rPr lang="zh-TW" altLang="en-US" sz="1000" dirty="0"/>
              <a:t>受最高速度限制，但加速度大降速快；轉向太靈敏可能震盪耗時</a:t>
            </a:r>
          </a:p>
          <a:p>
            <a:r>
              <a:rPr lang="zh-TW" altLang="en-US" sz="1000" dirty="0"/>
              <a:t>        </a:t>
            </a:r>
            <a:r>
              <a:rPr lang="en-US" altLang="zh-TW" sz="1000" dirty="0" err="1"/>
              <a:t>execution_time</a:t>
            </a:r>
            <a:r>
              <a:rPr lang="en-US" altLang="zh-TW" sz="1000" dirty="0"/>
              <a:t> = (100.0 / 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) + (10.0 /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+ (0.3 *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) + (0.2 * 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)</a:t>
            </a:r>
          </a:p>
          <a:p>
            <a:r>
              <a:rPr lang="en-US" altLang="zh-TW" sz="1000" dirty="0"/>
              <a:t>        </a:t>
            </a:r>
          </a:p>
          <a:p>
            <a:r>
              <a:rPr lang="en-US" altLang="zh-TW" sz="1000" dirty="0"/>
              <a:t># 2. </a:t>
            </a:r>
            <a:r>
              <a:rPr lang="zh-TW" altLang="en-US" sz="1000" dirty="0"/>
              <a:t>碰撞與不平穩風險 </a:t>
            </a:r>
            <a:r>
              <a:rPr lang="en-US" altLang="zh-TW" sz="1000" dirty="0"/>
              <a:t>Risk: </a:t>
            </a:r>
            <a:r>
              <a:rPr lang="zh-TW" altLang="en-US" sz="1000" dirty="0"/>
              <a:t>速度與加速度越大風險越高；安全權重與 </a:t>
            </a:r>
            <a:r>
              <a:rPr lang="en-US" altLang="zh-TW" sz="1000" dirty="0"/>
              <a:t>MPC </a:t>
            </a:r>
            <a:r>
              <a:rPr lang="zh-TW" altLang="en-US" sz="1000" dirty="0"/>
              <a:t>比值越大越平穩</a:t>
            </a:r>
            <a:r>
              <a:rPr lang="en-US" altLang="zh-TW" sz="1000" dirty="0"/>
              <a:t>(</a:t>
            </a:r>
            <a:r>
              <a:rPr lang="zh-TW" altLang="en-US" sz="1000" dirty="0"/>
              <a:t>風險低</a:t>
            </a:r>
            <a:r>
              <a:rPr lang="en-US" altLang="zh-TW" sz="1000" dirty="0"/>
              <a:t>)</a:t>
            </a:r>
          </a:p>
          <a:p>
            <a:r>
              <a:rPr lang="en-US" altLang="zh-TW" sz="1000" dirty="0"/>
              <a:t>        </a:t>
            </a:r>
            <a:r>
              <a:rPr lang="en-US" altLang="zh-TW" sz="1000" dirty="0" err="1"/>
              <a:t>collision_risk</a:t>
            </a:r>
            <a:r>
              <a:rPr lang="en-US" altLang="zh-TW" sz="1000" dirty="0"/>
              <a:t> = (0.15 * (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 ** 2)) + (0.5 *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+ (5.0 /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) + (100.0 / </a:t>
            </a:r>
            <a:r>
              <a:rPr lang="en-US" altLang="zh-TW" sz="1000" dirty="0" err="1"/>
              <a:t>q_r_ratio</a:t>
            </a:r>
            <a:r>
              <a:rPr lang="en-US" altLang="zh-TW" sz="1000" dirty="0"/>
              <a:t>)</a:t>
            </a:r>
            <a:endParaRPr lang="zh-TW" altLang="en-US" sz="10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CCCC2EB-5F55-5DBA-0851-AD2B9B350025}"/>
              </a:ext>
            </a:extLst>
          </p:cNvPr>
          <p:cNvSpPr txBox="1"/>
          <p:nvPr/>
        </p:nvSpPr>
        <p:spPr>
          <a:xfrm>
            <a:off x="6580336" y="912357"/>
            <a:ext cx="5331755" cy="17851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# === 【GA </a:t>
            </a:r>
            <a:r>
              <a:rPr lang="zh-TW" altLang="en-US" sz="1000" dirty="0"/>
              <a:t>參數可調區域</a:t>
            </a:r>
            <a:r>
              <a:rPr lang="en-US" altLang="zh-TW" sz="1000" dirty="0"/>
              <a:t>】 ===</a:t>
            </a:r>
          </a:p>
          <a:p>
            <a:r>
              <a:rPr lang="en-US" altLang="zh-TW" sz="1000" dirty="0"/>
              <a:t>POP_SIZE = 60          # </a:t>
            </a:r>
            <a:r>
              <a:rPr lang="zh-TW" altLang="en-US" sz="1000" dirty="0"/>
              <a:t>族群大小 </a:t>
            </a:r>
            <a:r>
              <a:rPr lang="en-US" altLang="zh-TW" sz="1000" dirty="0"/>
              <a:t>(Population Size)</a:t>
            </a:r>
          </a:p>
          <a:p>
            <a:r>
              <a:rPr lang="en-US" altLang="zh-TW" sz="1000" dirty="0"/>
              <a:t>N_GEN = 50             # </a:t>
            </a:r>
            <a:r>
              <a:rPr lang="zh-TW" altLang="en-US" sz="1000" dirty="0"/>
              <a:t>演化代數 </a:t>
            </a:r>
            <a:r>
              <a:rPr lang="en-US" altLang="zh-TW" sz="1000" dirty="0"/>
              <a:t>(Generations)</a:t>
            </a:r>
          </a:p>
          <a:p>
            <a:endParaRPr lang="en-US" altLang="zh-TW" sz="1000" dirty="0"/>
          </a:p>
          <a:p>
            <a:r>
              <a:rPr lang="en-US" altLang="zh-TW" sz="1000" dirty="0"/>
              <a:t># SBX </a:t>
            </a:r>
            <a:r>
              <a:rPr lang="zh-TW" altLang="en-US" sz="1000" dirty="0"/>
              <a:t>交叉算子設定 </a:t>
            </a:r>
            <a:r>
              <a:rPr lang="en-US" altLang="zh-TW" sz="1000" dirty="0"/>
              <a:t>(Simulated Binary Crossover)</a:t>
            </a:r>
          </a:p>
          <a:p>
            <a:r>
              <a:rPr lang="en-US" altLang="zh-TW" sz="1000" dirty="0"/>
              <a:t>CROSSOVER_PROB = 0.9   # </a:t>
            </a:r>
            <a:r>
              <a:rPr lang="zh-TW" altLang="en-US" sz="1000" dirty="0"/>
              <a:t>交叉機率 </a:t>
            </a:r>
            <a:r>
              <a:rPr lang="en-US" altLang="zh-TW" sz="1000" dirty="0"/>
              <a:t>(</a:t>
            </a:r>
            <a:r>
              <a:rPr lang="zh-TW" altLang="en-US" sz="1000" dirty="0"/>
              <a:t>預設 </a:t>
            </a:r>
            <a:r>
              <a:rPr lang="en-US" altLang="zh-TW" sz="1000" dirty="0"/>
              <a:t>0.9)</a:t>
            </a:r>
          </a:p>
          <a:p>
            <a:r>
              <a:rPr lang="en-US" altLang="zh-TW" sz="1000" dirty="0"/>
              <a:t>ETA_C = 15.0           # </a:t>
            </a:r>
            <a:r>
              <a:rPr lang="zh-TW" altLang="en-US" sz="1000" dirty="0"/>
              <a:t>交叉分佈指數 </a:t>
            </a:r>
            <a:r>
              <a:rPr lang="el-GR" altLang="zh-TW" sz="1000" dirty="0"/>
              <a:t>η_</a:t>
            </a:r>
            <a:r>
              <a:rPr lang="en-US" altLang="zh-TW" sz="1000" dirty="0"/>
              <a:t>c (</a:t>
            </a:r>
            <a:r>
              <a:rPr lang="zh-TW" altLang="en-US" sz="1000" dirty="0"/>
              <a:t>值越大搜尋越保守，值越小搜尋越激進</a:t>
            </a:r>
            <a:r>
              <a:rPr lang="en-US" altLang="zh-TW" sz="1000" dirty="0"/>
              <a:t>)</a:t>
            </a:r>
          </a:p>
          <a:p>
            <a:endParaRPr lang="en-US" altLang="zh-TW" sz="1000" dirty="0"/>
          </a:p>
          <a:p>
            <a:r>
              <a:rPr lang="en-US" altLang="zh-TW" sz="1000" dirty="0"/>
              <a:t># </a:t>
            </a:r>
            <a:r>
              <a:rPr lang="zh-TW" altLang="en-US" sz="1000" dirty="0"/>
              <a:t>多項式突變算子設定 </a:t>
            </a:r>
            <a:r>
              <a:rPr lang="en-US" altLang="zh-TW" sz="1000" dirty="0"/>
              <a:t>(Polynomial Mutation)</a:t>
            </a:r>
          </a:p>
          <a:p>
            <a:r>
              <a:rPr lang="en-US" altLang="zh-TW" sz="1000" dirty="0"/>
              <a:t>MUTATION_PROB = 0.2    # </a:t>
            </a:r>
            <a:r>
              <a:rPr lang="zh-TW" altLang="en-US" sz="1000" dirty="0"/>
              <a:t>突變機率 </a:t>
            </a:r>
            <a:r>
              <a:rPr lang="en-US" altLang="zh-TW" sz="1000" dirty="0"/>
              <a:t>(</a:t>
            </a:r>
            <a:r>
              <a:rPr lang="zh-TW" altLang="en-US" sz="1000" dirty="0"/>
              <a:t>建議設為 </a:t>
            </a:r>
            <a:r>
              <a:rPr lang="en-US" altLang="zh-TW" sz="1000" dirty="0"/>
              <a:t>1/</a:t>
            </a:r>
            <a:r>
              <a:rPr lang="en-US" altLang="zh-TW" sz="1000" dirty="0" err="1"/>
              <a:t>n_var</a:t>
            </a:r>
            <a:r>
              <a:rPr lang="en-US" altLang="zh-TW" sz="1000" dirty="0"/>
              <a:t> = 1/5 = 0.2)</a:t>
            </a:r>
          </a:p>
          <a:p>
            <a:r>
              <a:rPr lang="en-US" altLang="zh-TW" sz="1000" dirty="0"/>
              <a:t>ETA_M = 20.0           # </a:t>
            </a:r>
            <a:r>
              <a:rPr lang="zh-TW" altLang="en-US" sz="1000" dirty="0"/>
              <a:t>突變分佈指數 </a:t>
            </a:r>
            <a:r>
              <a:rPr lang="el-GR" altLang="zh-TW" sz="1000" dirty="0"/>
              <a:t>η_</a:t>
            </a:r>
            <a:r>
              <a:rPr lang="en-US" altLang="zh-TW" sz="1000" dirty="0"/>
              <a:t>m (</a:t>
            </a:r>
            <a:r>
              <a:rPr lang="zh-TW" altLang="en-US" sz="1000" dirty="0"/>
              <a:t>值越大擾動幅度越小</a:t>
            </a:r>
            <a:r>
              <a:rPr lang="en-US" altLang="zh-TW" sz="1000" dirty="0"/>
              <a:t>/</a:t>
            </a:r>
            <a:r>
              <a:rPr lang="zh-TW" altLang="en-US" sz="1000" dirty="0"/>
              <a:t>精細，值越小擾動越劇烈</a:t>
            </a:r>
            <a:r>
              <a:rPr lang="en-US" altLang="zh-TW" sz="1000" dirty="0"/>
              <a:t>)</a:t>
            </a:r>
            <a:endParaRPr lang="zh-TW" altLang="en-US" sz="10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3874D9D-31CE-410A-D956-56BC390D7C8C}"/>
              </a:ext>
            </a:extLst>
          </p:cNvPr>
          <p:cNvSpPr txBox="1"/>
          <p:nvPr/>
        </p:nvSpPr>
        <p:spPr>
          <a:xfrm>
            <a:off x="6580336" y="2962586"/>
            <a:ext cx="5331755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=== 5 </a:t>
            </a:r>
            <a:r>
              <a:rPr lang="zh-TW" altLang="en-US" sz="1000" dirty="0"/>
              <a:t>維 </a:t>
            </a:r>
            <a:r>
              <a:rPr lang="en-US" altLang="zh-TW" sz="1000" dirty="0"/>
              <a:t>AMR </a:t>
            </a:r>
            <a:r>
              <a:rPr lang="zh-TW" altLang="en-US" sz="1000" dirty="0"/>
              <a:t>超參數 </a:t>
            </a:r>
            <a:r>
              <a:rPr lang="en-US" altLang="zh-TW" sz="1000" dirty="0"/>
              <a:t>- </a:t>
            </a:r>
            <a:r>
              <a:rPr lang="zh-TW" altLang="en-US" sz="1000" dirty="0"/>
              <a:t>帕累托最優解 </a:t>
            </a:r>
            <a:r>
              <a:rPr lang="en-US" altLang="zh-TW" sz="1000" dirty="0"/>
              <a:t>(</a:t>
            </a:r>
            <a:r>
              <a:rPr lang="zh-TW" altLang="en-US" sz="1000" dirty="0"/>
              <a:t>部分</a:t>
            </a:r>
            <a:r>
              <a:rPr lang="en-US" altLang="zh-TW" sz="1000" dirty="0"/>
              <a:t>) ===</a:t>
            </a:r>
          </a:p>
          <a:p>
            <a:r>
              <a:rPr lang="en-US" altLang="zh-TW" sz="1000" dirty="0"/>
              <a:t>  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 | 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q_r_ratio</a:t>
            </a:r>
            <a:r>
              <a:rPr lang="en-US" altLang="zh-TW" sz="1000" dirty="0"/>
              <a:t> || Exec Time | Risk Score</a:t>
            </a:r>
          </a:p>
          <a:p>
            <a:r>
              <a:rPr lang="en-US" altLang="zh-TW" sz="1000" dirty="0"/>
              <a:t>---------------------------------------------------------------------------</a:t>
            </a:r>
          </a:p>
          <a:p>
            <a:r>
              <a:rPr lang="en-US" altLang="zh-TW" sz="1000" dirty="0"/>
              <a:t>   0.52 |   0.10 |    10.00 |    0.98 |     990.1 ||    293.91 |       0.69</a:t>
            </a:r>
          </a:p>
          <a:p>
            <a:r>
              <a:rPr lang="en-US" altLang="zh-TW" sz="1000" dirty="0"/>
              <a:t>   3.00 |   2.00 |     0.25 |    0.77 |     981.9 ||     38.58 |      22.52</a:t>
            </a:r>
          </a:p>
          <a:p>
            <a:r>
              <a:rPr lang="en-US" altLang="zh-TW" sz="1000" dirty="0"/>
              <a:t>   3.00 |   1.99 |     0.40 |    0.92 |     944.5 ||     38.66 |      14.86</a:t>
            </a:r>
          </a:p>
          <a:p>
            <a:r>
              <a:rPr lang="en-US" altLang="zh-TW" sz="1000" dirty="0"/>
              <a:t>   3.00 |   2.00 |     0.25 |    0.77 |     981.8 ||     38.58 |      22.52</a:t>
            </a:r>
          </a:p>
          <a:p>
            <a:r>
              <a:rPr lang="en-US" altLang="zh-TW" sz="1000" dirty="0"/>
              <a:t>   3.00 |   2.00 |     0.80 |    0.76 |     983.1 ||     38.73 |       8.71</a:t>
            </a:r>
          </a:p>
          <a:p>
            <a:endParaRPr lang="en-US" altLang="zh-TW" sz="1000" dirty="0"/>
          </a:p>
          <a:p>
            <a:r>
              <a:rPr lang="en-US" altLang="zh-TW" sz="1000" dirty="0"/>
              <a:t>==================================================</a:t>
            </a:r>
          </a:p>
          <a:p>
            <a:r>
              <a:rPr lang="en-US" altLang="zh-TW" sz="1000" dirty="0"/>
              <a:t>★【</a:t>
            </a:r>
            <a:r>
              <a:rPr lang="zh-TW" altLang="en-US" sz="1000" dirty="0"/>
              <a:t>膝點法計算結果 </a:t>
            </a:r>
            <a:r>
              <a:rPr lang="en-US" altLang="zh-TW" sz="1000" dirty="0"/>
              <a:t>- </a:t>
            </a:r>
            <a:r>
              <a:rPr lang="zh-TW" altLang="en-US" sz="1000" dirty="0"/>
              <a:t>最佳折衷方案 </a:t>
            </a:r>
            <a:r>
              <a:rPr lang="en-US" altLang="zh-TW" sz="1000" dirty="0"/>
              <a:t>(Knee Point / Best Trade-off)】★</a:t>
            </a:r>
          </a:p>
          <a:p>
            <a:r>
              <a:rPr lang="en-US" altLang="zh-TW" sz="1000" dirty="0"/>
              <a:t>==================================================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最高車速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)     : 2.58 m/s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最大加速度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  : 0.97 m/s²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安全距離權重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w_safe</a:t>
            </a:r>
            <a:r>
              <a:rPr lang="en-US" altLang="zh-TW" sz="1000" dirty="0"/>
              <a:t>): 9.94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轉向靈敏度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)  : 1.01</a:t>
            </a:r>
          </a:p>
          <a:p>
            <a:r>
              <a:rPr lang="en-US" altLang="zh-TW" sz="1000" dirty="0"/>
              <a:t> ▸ MPC Q/R </a:t>
            </a:r>
            <a:r>
              <a:rPr lang="zh-TW" altLang="en-US" sz="1000" dirty="0"/>
              <a:t>比值         </a:t>
            </a:r>
            <a:r>
              <a:rPr lang="en-US" altLang="zh-TW" sz="1000" dirty="0"/>
              <a:t>: 993.3</a:t>
            </a:r>
          </a:p>
          <a:p>
            <a:r>
              <a:rPr lang="en-US" altLang="zh-TW" sz="1000" dirty="0"/>
              <a:t>---------------------------------------------</a:t>
            </a:r>
          </a:p>
          <a:p>
            <a:r>
              <a:rPr lang="en-US" altLang="zh-TW" sz="1000" dirty="0"/>
              <a:t> </a:t>
            </a:r>
            <a:r>
              <a:rPr lang="zh-TW" altLang="en-US" sz="1000" dirty="0"/>
              <a:t>🎯 執行時間 </a:t>
            </a:r>
            <a:r>
              <a:rPr lang="en-US" altLang="zh-TW" sz="1000" dirty="0"/>
              <a:t>(Exec Time) : 52.32 </a:t>
            </a:r>
            <a:r>
              <a:rPr lang="zh-TW" altLang="en-US" sz="1000" dirty="0"/>
              <a:t>秒</a:t>
            </a:r>
          </a:p>
          <a:p>
            <a:r>
              <a:rPr lang="zh-TW" altLang="en-US" sz="1000" dirty="0"/>
              <a:t> 🎯 碰撞風險 </a:t>
            </a:r>
            <a:r>
              <a:rPr lang="en-US" altLang="zh-TW" sz="1000" dirty="0"/>
              <a:t>(Risk Score): 2.08</a:t>
            </a:r>
          </a:p>
          <a:p>
            <a:r>
              <a:rPr lang="en-US" altLang="zh-TW" sz="1000" dirty="0"/>
              <a:t>==================================================</a:t>
            </a:r>
            <a:endParaRPr lang="zh-TW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949101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D6D93-1FA6-3519-6213-0A741D5EB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496857-C791-867C-9EF7-1745DA1751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9103FDC4-6355-103E-E012-F03764D0EB2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414D3039-AE91-494D-7333-F17809F62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lvl="0">
              <a:defRPr/>
            </a:pPr>
            <a:r>
              <a:rPr lang="zh-TW" altLang="en-US" sz="2900" dirty="0">
                <a:solidFill>
                  <a:srgbClr val="FFFFFF"/>
                </a:solidFill>
              </a:rPr>
              <a:t>帕累托前緣曲線結果與最佳化超參數結果呈現 </a:t>
            </a:r>
            <a:r>
              <a:rPr lang="en-US" altLang="zh-TW" sz="2900" dirty="0">
                <a:solidFill>
                  <a:srgbClr val="FFFFFF"/>
                </a:solidFill>
              </a:rPr>
              <a:t>(2)</a:t>
            </a: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1EACEC0-91DF-9E9E-22FB-0EBC3A1CA8E5}"/>
              </a:ext>
            </a:extLst>
          </p:cNvPr>
          <p:cNvSpPr txBox="1"/>
          <p:nvPr/>
        </p:nvSpPr>
        <p:spPr>
          <a:xfrm>
            <a:off x="349358" y="699083"/>
            <a:ext cx="5962749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# -----------------------------------------------------------</a:t>
            </a:r>
          </a:p>
          <a:p>
            <a:r>
              <a:rPr lang="en-US" altLang="zh-TW" sz="1000" dirty="0"/>
              <a:t># </a:t>
            </a:r>
            <a:r>
              <a:rPr lang="zh-TW" altLang="en-US" sz="1000" dirty="0"/>
              <a:t>模擬多維度 </a:t>
            </a:r>
            <a:r>
              <a:rPr lang="en-US" altLang="zh-TW" sz="1000" dirty="0"/>
              <a:t>AMR </a:t>
            </a:r>
            <a:r>
              <a:rPr lang="zh-TW" altLang="en-US" sz="1000" dirty="0"/>
              <a:t>黑盒評價方程 </a:t>
            </a:r>
            <a:r>
              <a:rPr lang="en-US" altLang="zh-TW" sz="1000" dirty="0"/>
              <a:t>(</a:t>
            </a:r>
            <a:r>
              <a:rPr lang="zh-TW" altLang="en-US" sz="1000" dirty="0"/>
              <a:t>綜合考慮物理動態與控制</a:t>
            </a:r>
            <a:r>
              <a:rPr lang="en-US" altLang="zh-TW" sz="1000" dirty="0"/>
              <a:t>):</a:t>
            </a:r>
          </a:p>
          <a:p>
            <a:r>
              <a:rPr lang="en-US" altLang="zh-TW" sz="1000" dirty="0"/>
              <a:t># -----------------------------------------------------------</a:t>
            </a:r>
          </a:p>
          <a:p>
            <a:r>
              <a:rPr lang="en-US" altLang="zh-TW" sz="1000" dirty="0"/>
              <a:t># 1. </a:t>
            </a:r>
            <a:r>
              <a:rPr lang="zh-TW" altLang="en-US" sz="1000" dirty="0"/>
              <a:t>執行時間 </a:t>
            </a:r>
            <a:r>
              <a:rPr lang="en-US" altLang="zh-TW" sz="1000" dirty="0"/>
              <a:t>Time: </a:t>
            </a:r>
            <a:r>
              <a:rPr lang="zh-TW" altLang="en-US" sz="1000" dirty="0"/>
              <a:t>受最高速度限制，但加速度大降速快；轉向太靈敏可能震盪耗時</a:t>
            </a:r>
          </a:p>
          <a:p>
            <a:r>
              <a:rPr lang="zh-TW" altLang="en-US" sz="1000" dirty="0"/>
              <a:t>        </a:t>
            </a:r>
            <a:r>
              <a:rPr lang="en-US" altLang="zh-TW" sz="1000" dirty="0" err="1"/>
              <a:t>execution_time</a:t>
            </a:r>
            <a:r>
              <a:rPr lang="en-US" altLang="zh-TW" sz="1000" dirty="0"/>
              <a:t> = (100.0 / 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) + (10.0 /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+ (0.3 *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) + (0.2 * 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)</a:t>
            </a:r>
          </a:p>
          <a:p>
            <a:r>
              <a:rPr lang="en-US" altLang="zh-TW" sz="1000" dirty="0"/>
              <a:t>        </a:t>
            </a:r>
          </a:p>
          <a:p>
            <a:r>
              <a:rPr lang="en-US" altLang="zh-TW" sz="1000" dirty="0"/>
              <a:t># 2. </a:t>
            </a:r>
            <a:r>
              <a:rPr lang="zh-TW" altLang="en-US" sz="1000" dirty="0"/>
              <a:t>碰撞與不平穩風險 </a:t>
            </a:r>
            <a:r>
              <a:rPr lang="en-US" altLang="zh-TW" sz="1000" dirty="0"/>
              <a:t>Risk: </a:t>
            </a:r>
            <a:r>
              <a:rPr lang="zh-TW" altLang="en-US" sz="1000" dirty="0"/>
              <a:t>速度與加速度越大風險越高；安全權重與 </a:t>
            </a:r>
            <a:r>
              <a:rPr lang="en-US" altLang="zh-TW" sz="1000" dirty="0"/>
              <a:t>MPC </a:t>
            </a:r>
            <a:r>
              <a:rPr lang="zh-TW" altLang="en-US" sz="1000" dirty="0"/>
              <a:t>比值越大越平穩</a:t>
            </a:r>
            <a:r>
              <a:rPr lang="en-US" altLang="zh-TW" sz="1000" dirty="0"/>
              <a:t>(</a:t>
            </a:r>
            <a:r>
              <a:rPr lang="zh-TW" altLang="en-US" sz="1000" dirty="0"/>
              <a:t>風險低</a:t>
            </a:r>
            <a:r>
              <a:rPr lang="en-US" altLang="zh-TW" sz="1000" dirty="0"/>
              <a:t>)</a:t>
            </a:r>
          </a:p>
          <a:p>
            <a:r>
              <a:rPr lang="en-US" altLang="zh-TW" sz="1000" dirty="0"/>
              <a:t>        </a:t>
            </a:r>
            <a:r>
              <a:rPr lang="en-US" altLang="zh-TW" sz="1000" dirty="0" err="1"/>
              <a:t>collision_risk</a:t>
            </a:r>
            <a:r>
              <a:rPr lang="en-US" altLang="zh-TW" sz="1000" dirty="0"/>
              <a:t> = (0.15 * (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 ** 2)) + (0.5 *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+ (5.0 /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) + (100.0 / </a:t>
            </a:r>
            <a:r>
              <a:rPr lang="en-US" altLang="zh-TW" sz="1000" dirty="0" err="1"/>
              <a:t>q_r_ratio</a:t>
            </a:r>
            <a:r>
              <a:rPr lang="en-US" altLang="zh-TW" sz="1000" dirty="0"/>
              <a:t>)</a:t>
            </a:r>
            <a:endParaRPr lang="zh-TW" altLang="en-US" sz="10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7BA29BB2-85AA-62C9-3FEB-3E2107D6C6F1}"/>
              </a:ext>
            </a:extLst>
          </p:cNvPr>
          <p:cNvSpPr txBox="1"/>
          <p:nvPr/>
        </p:nvSpPr>
        <p:spPr>
          <a:xfrm>
            <a:off x="6580336" y="912357"/>
            <a:ext cx="5331755" cy="17851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# === 【GA </a:t>
            </a:r>
            <a:r>
              <a:rPr lang="zh-TW" altLang="en-US" sz="1000" dirty="0"/>
              <a:t>參數可調區域</a:t>
            </a:r>
            <a:r>
              <a:rPr lang="en-US" altLang="zh-TW" sz="1000" dirty="0"/>
              <a:t>】 ===</a:t>
            </a:r>
          </a:p>
          <a:p>
            <a:r>
              <a:rPr lang="en-US" altLang="zh-TW" sz="1000" b="1" dirty="0">
                <a:solidFill>
                  <a:srgbClr val="00B0F0"/>
                </a:solidFill>
              </a:rPr>
              <a:t>POP_SIZE = 1000          # </a:t>
            </a:r>
            <a:r>
              <a:rPr lang="zh-TW" altLang="en-US" sz="1000" b="1" dirty="0">
                <a:solidFill>
                  <a:srgbClr val="00B0F0"/>
                </a:solidFill>
              </a:rPr>
              <a:t>族群大小 </a:t>
            </a:r>
            <a:r>
              <a:rPr lang="en-US" altLang="zh-TW" sz="1000" b="1" dirty="0">
                <a:solidFill>
                  <a:srgbClr val="00B0F0"/>
                </a:solidFill>
              </a:rPr>
              <a:t>(Population Size)</a:t>
            </a:r>
          </a:p>
          <a:p>
            <a:r>
              <a:rPr lang="en-US" altLang="zh-TW" sz="1000" dirty="0"/>
              <a:t>N_GEN = 50             # </a:t>
            </a:r>
            <a:r>
              <a:rPr lang="zh-TW" altLang="en-US" sz="1000" dirty="0"/>
              <a:t>演化代數 </a:t>
            </a:r>
            <a:r>
              <a:rPr lang="en-US" altLang="zh-TW" sz="1000" dirty="0"/>
              <a:t>(Generations)</a:t>
            </a:r>
          </a:p>
          <a:p>
            <a:endParaRPr lang="en-US" altLang="zh-TW" sz="1000" dirty="0"/>
          </a:p>
          <a:p>
            <a:r>
              <a:rPr lang="en-US" altLang="zh-TW" sz="1000" dirty="0"/>
              <a:t># SBX </a:t>
            </a:r>
            <a:r>
              <a:rPr lang="zh-TW" altLang="en-US" sz="1000" dirty="0"/>
              <a:t>交叉算子設定 </a:t>
            </a:r>
            <a:r>
              <a:rPr lang="en-US" altLang="zh-TW" sz="1000" dirty="0"/>
              <a:t>(Simulated Binary Crossover)</a:t>
            </a:r>
          </a:p>
          <a:p>
            <a:r>
              <a:rPr lang="en-US" altLang="zh-TW" sz="1000" dirty="0"/>
              <a:t>CROSSOVER_PROB = 0.9   # </a:t>
            </a:r>
            <a:r>
              <a:rPr lang="zh-TW" altLang="en-US" sz="1000" dirty="0"/>
              <a:t>交叉機率 </a:t>
            </a:r>
            <a:r>
              <a:rPr lang="en-US" altLang="zh-TW" sz="1000" dirty="0"/>
              <a:t>(</a:t>
            </a:r>
            <a:r>
              <a:rPr lang="zh-TW" altLang="en-US" sz="1000" dirty="0"/>
              <a:t>預設 </a:t>
            </a:r>
            <a:r>
              <a:rPr lang="en-US" altLang="zh-TW" sz="1000" dirty="0"/>
              <a:t>0.9)</a:t>
            </a:r>
          </a:p>
          <a:p>
            <a:r>
              <a:rPr lang="en-US" altLang="zh-TW" sz="1000" dirty="0"/>
              <a:t>ETA_C = 15.0           # </a:t>
            </a:r>
            <a:r>
              <a:rPr lang="zh-TW" altLang="en-US" sz="1000" dirty="0"/>
              <a:t>交叉分佈指數 </a:t>
            </a:r>
            <a:r>
              <a:rPr lang="el-GR" altLang="zh-TW" sz="1000" dirty="0"/>
              <a:t>η_</a:t>
            </a:r>
            <a:r>
              <a:rPr lang="en-US" altLang="zh-TW" sz="1000" dirty="0"/>
              <a:t>c (</a:t>
            </a:r>
            <a:r>
              <a:rPr lang="zh-TW" altLang="en-US" sz="1000" dirty="0"/>
              <a:t>值越大搜尋越保守，值越小搜尋越激進</a:t>
            </a:r>
            <a:r>
              <a:rPr lang="en-US" altLang="zh-TW" sz="1000" dirty="0"/>
              <a:t>)</a:t>
            </a:r>
          </a:p>
          <a:p>
            <a:endParaRPr lang="en-US" altLang="zh-TW" sz="1000" dirty="0"/>
          </a:p>
          <a:p>
            <a:r>
              <a:rPr lang="en-US" altLang="zh-TW" sz="1000" dirty="0"/>
              <a:t># </a:t>
            </a:r>
            <a:r>
              <a:rPr lang="zh-TW" altLang="en-US" sz="1000" dirty="0"/>
              <a:t>多項式突變算子設定 </a:t>
            </a:r>
            <a:r>
              <a:rPr lang="en-US" altLang="zh-TW" sz="1000" dirty="0"/>
              <a:t>(Polynomial Mutation)</a:t>
            </a:r>
          </a:p>
          <a:p>
            <a:r>
              <a:rPr lang="en-US" altLang="zh-TW" sz="1000" dirty="0"/>
              <a:t>MUTATION_PROB = 0.2    # </a:t>
            </a:r>
            <a:r>
              <a:rPr lang="zh-TW" altLang="en-US" sz="1000" dirty="0"/>
              <a:t>突變機率 </a:t>
            </a:r>
            <a:r>
              <a:rPr lang="en-US" altLang="zh-TW" sz="1000" dirty="0"/>
              <a:t>(</a:t>
            </a:r>
            <a:r>
              <a:rPr lang="zh-TW" altLang="en-US" sz="1000" dirty="0"/>
              <a:t>建議設為 </a:t>
            </a:r>
            <a:r>
              <a:rPr lang="en-US" altLang="zh-TW" sz="1000" dirty="0"/>
              <a:t>1/</a:t>
            </a:r>
            <a:r>
              <a:rPr lang="en-US" altLang="zh-TW" sz="1000" dirty="0" err="1"/>
              <a:t>n_var</a:t>
            </a:r>
            <a:r>
              <a:rPr lang="en-US" altLang="zh-TW" sz="1000" dirty="0"/>
              <a:t> = 1/5 = 0.2)</a:t>
            </a:r>
          </a:p>
          <a:p>
            <a:r>
              <a:rPr lang="en-US" altLang="zh-TW" sz="1000" dirty="0"/>
              <a:t>ETA_M = 20.0           # </a:t>
            </a:r>
            <a:r>
              <a:rPr lang="zh-TW" altLang="en-US" sz="1000" dirty="0"/>
              <a:t>突變分佈指數 </a:t>
            </a:r>
            <a:r>
              <a:rPr lang="el-GR" altLang="zh-TW" sz="1000" dirty="0"/>
              <a:t>η_</a:t>
            </a:r>
            <a:r>
              <a:rPr lang="en-US" altLang="zh-TW" sz="1000" dirty="0"/>
              <a:t>m (</a:t>
            </a:r>
            <a:r>
              <a:rPr lang="zh-TW" altLang="en-US" sz="1000" dirty="0"/>
              <a:t>值越大擾動幅度越小</a:t>
            </a:r>
            <a:r>
              <a:rPr lang="en-US" altLang="zh-TW" sz="1000" dirty="0"/>
              <a:t>/</a:t>
            </a:r>
            <a:r>
              <a:rPr lang="zh-TW" altLang="en-US" sz="1000" dirty="0"/>
              <a:t>精細，值越小擾動越劇烈</a:t>
            </a:r>
            <a:r>
              <a:rPr lang="en-US" altLang="zh-TW" sz="1000" dirty="0"/>
              <a:t>)</a:t>
            </a:r>
            <a:endParaRPr lang="zh-TW" altLang="en-US" sz="10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423927F1-3C12-E04F-D9F7-4FF545D747AA}"/>
              </a:ext>
            </a:extLst>
          </p:cNvPr>
          <p:cNvSpPr txBox="1"/>
          <p:nvPr/>
        </p:nvSpPr>
        <p:spPr>
          <a:xfrm>
            <a:off x="6580336" y="2962586"/>
            <a:ext cx="5331755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=== 5 </a:t>
            </a:r>
            <a:r>
              <a:rPr lang="zh-TW" altLang="en-US" sz="1000" dirty="0"/>
              <a:t>維 </a:t>
            </a:r>
            <a:r>
              <a:rPr lang="en-US" altLang="zh-TW" sz="1000" dirty="0"/>
              <a:t>AMR </a:t>
            </a:r>
            <a:r>
              <a:rPr lang="zh-TW" altLang="en-US" sz="1000" dirty="0"/>
              <a:t>超參數 </a:t>
            </a:r>
            <a:r>
              <a:rPr lang="en-US" altLang="zh-TW" sz="1000" dirty="0"/>
              <a:t>- </a:t>
            </a:r>
            <a:r>
              <a:rPr lang="zh-TW" altLang="en-US" sz="1000" dirty="0"/>
              <a:t>帕累托最優解 </a:t>
            </a:r>
            <a:r>
              <a:rPr lang="en-US" altLang="zh-TW" sz="1000" dirty="0"/>
              <a:t>(</a:t>
            </a:r>
            <a:r>
              <a:rPr lang="zh-TW" altLang="en-US" sz="1000" dirty="0"/>
              <a:t>部分</a:t>
            </a:r>
            <a:r>
              <a:rPr lang="en-US" altLang="zh-TW" sz="1000" dirty="0"/>
              <a:t>) ===</a:t>
            </a:r>
          </a:p>
          <a:p>
            <a:r>
              <a:rPr lang="en-US" altLang="zh-TW" sz="1000" dirty="0"/>
              <a:t>  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 | 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q_r_ratio</a:t>
            </a:r>
            <a:r>
              <a:rPr lang="en-US" altLang="zh-TW" sz="1000" dirty="0"/>
              <a:t> || Exec Time | Risk Score</a:t>
            </a:r>
          </a:p>
          <a:p>
            <a:r>
              <a:rPr lang="en-US" altLang="zh-TW" sz="1000" dirty="0"/>
              <a:t>---------------------------------------------------------------------------</a:t>
            </a:r>
          </a:p>
          <a:p>
            <a:r>
              <a:rPr lang="en-US" altLang="zh-TW" sz="1000" dirty="0"/>
              <a:t>   3.00 |   2.00 |     0.12 |    0.51 |     997.0 ||     38.49 |      45.80</a:t>
            </a:r>
          </a:p>
          <a:p>
            <a:r>
              <a:rPr lang="en-US" altLang="zh-TW" sz="1000" dirty="0"/>
              <a:t>   0.50 |   0.10 |    10.00 |    0.57 |     999.8 ||    302.92 |       0.69</a:t>
            </a:r>
          </a:p>
          <a:p>
            <a:r>
              <a:rPr lang="en-US" altLang="zh-TW" sz="1000" dirty="0"/>
              <a:t>   3.00 |   2.00 |     0.12 |    0.51 |     996.8 ||     38.49 |      44.70</a:t>
            </a:r>
          </a:p>
          <a:p>
            <a:r>
              <a:rPr lang="en-US" altLang="zh-TW" sz="1000" dirty="0"/>
              <a:t>   3.00 |   2.00 |     0.15 |    0.50 |     999.4 ||     38.49 |      36.02</a:t>
            </a:r>
          </a:p>
          <a:p>
            <a:r>
              <a:rPr lang="en-US" altLang="zh-TW" sz="1000" dirty="0"/>
              <a:t>   3.00 |   2.00 |     0.19 |    0.50 |     999.7 ||     38.49 |      29.16</a:t>
            </a:r>
          </a:p>
          <a:p>
            <a:endParaRPr lang="en-US" altLang="zh-TW" sz="1000" dirty="0"/>
          </a:p>
          <a:p>
            <a:r>
              <a:rPr lang="en-US" altLang="zh-TW" sz="1000" dirty="0"/>
              <a:t>====================================================</a:t>
            </a:r>
          </a:p>
          <a:p>
            <a:r>
              <a:rPr lang="en-US" altLang="zh-TW" sz="1000" dirty="0"/>
              <a:t>★【</a:t>
            </a:r>
            <a:r>
              <a:rPr lang="zh-TW" altLang="en-US" sz="1000" dirty="0"/>
              <a:t>膝點法計算結果 </a:t>
            </a:r>
            <a:r>
              <a:rPr lang="en-US" altLang="zh-TW" sz="1000" dirty="0"/>
              <a:t>- </a:t>
            </a:r>
            <a:r>
              <a:rPr lang="zh-TW" altLang="en-US" sz="1000" dirty="0"/>
              <a:t>最佳折衷方案 </a:t>
            </a:r>
            <a:r>
              <a:rPr lang="en-US" altLang="zh-TW" sz="1000" dirty="0"/>
              <a:t>(Knee Point / Best Trade-off)】★</a:t>
            </a:r>
          </a:p>
          <a:p>
            <a:r>
              <a:rPr lang="en-US" altLang="zh-TW" sz="1000" dirty="0"/>
              <a:t>====================================================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最高車速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)     : 3.00 m/s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最大加速度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  : 1.33 m/s²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安全距離權重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w_safe</a:t>
            </a:r>
            <a:r>
              <a:rPr lang="en-US" altLang="zh-TW" sz="1000" dirty="0"/>
              <a:t>): 10.00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轉向靈敏度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)  : 0.61</a:t>
            </a:r>
          </a:p>
          <a:p>
            <a:r>
              <a:rPr lang="en-US" altLang="zh-TW" sz="1000" dirty="0"/>
              <a:t> ▸ MPC Q/R </a:t>
            </a:r>
            <a:r>
              <a:rPr lang="zh-TW" altLang="en-US" sz="1000" dirty="0"/>
              <a:t>比值         </a:t>
            </a:r>
            <a:r>
              <a:rPr lang="en-US" altLang="zh-TW" sz="1000" dirty="0"/>
              <a:t>: 993.7</a:t>
            </a:r>
          </a:p>
          <a:p>
            <a:r>
              <a:rPr lang="en-US" altLang="zh-TW" sz="1000" dirty="0"/>
              <a:t>---------------------------------------------</a:t>
            </a:r>
          </a:p>
          <a:p>
            <a:r>
              <a:rPr lang="en-US" altLang="zh-TW" sz="1000" dirty="0"/>
              <a:t> </a:t>
            </a:r>
            <a:r>
              <a:rPr lang="zh-TW" altLang="en-US" sz="1000" dirty="0"/>
              <a:t>🎯 執行時間 </a:t>
            </a:r>
            <a:r>
              <a:rPr lang="en-US" altLang="zh-TW" sz="1000" dirty="0"/>
              <a:t>(Exec Time) : 43.96 </a:t>
            </a:r>
            <a:r>
              <a:rPr lang="zh-TW" altLang="en-US" sz="1000" dirty="0"/>
              <a:t>秒</a:t>
            </a:r>
          </a:p>
          <a:p>
            <a:r>
              <a:rPr lang="zh-TW" altLang="en-US" sz="1000" dirty="0"/>
              <a:t> 🎯 碰撞風險 </a:t>
            </a:r>
            <a:r>
              <a:rPr lang="en-US" altLang="zh-TW" sz="1000" dirty="0"/>
              <a:t>(Risk Score): 2.62</a:t>
            </a:r>
          </a:p>
          <a:p>
            <a:r>
              <a:rPr lang="en-US" altLang="zh-TW" sz="1000" dirty="0"/>
              <a:t>====================================================</a:t>
            </a:r>
            <a:endParaRPr lang="zh-TW" altLang="en-US" sz="1000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9FAE43A-4E34-DB3C-D703-02EA2D6AA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633" y="2261419"/>
            <a:ext cx="5953299" cy="4332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777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79AF9-FC5B-1E80-2AE2-7F02F76AC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463D26-8882-8267-4033-3904BBB9204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3E6DA9ED-86AA-8CE1-8A29-C9B83E4F1D9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B3C1DF1C-E826-F66D-23D2-CD12C5F8B58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lvl="0">
              <a:defRPr/>
            </a:pPr>
            <a:r>
              <a:rPr lang="zh-TW" altLang="en-US" sz="2900" dirty="0">
                <a:solidFill>
                  <a:srgbClr val="FFFFFF"/>
                </a:solidFill>
              </a:rPr>
              <a:t>帕累托前緣曲線結果與最佳化超參數結果呈現 </a:t>
            </a:r>
            <a:r>
              <a:rPr lang="en-US" altLang="zh-TW" sz="2900" dirty="0">
                <a:solidFill>
                  <a:srgbClr val="FFFFFF"/>
                </a:solidFill>
              </a:rPr>
              <a:t>(3)</a:t>
            </a: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E2489E6-B9B1-64E3-E546-8DFBC651F59C}"/>
              </a:ext>
            </a:extLst>
          </p:cNvPr>
          <p:cNvSpPr txBox="1"/>
          <p:nvPr/>
        </p:nvSpPr>
        <p:spPr>
          <a:xfrm>
            <a:off x="349358" y="699083"/>
            <a:ext cx="5962749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# -----------------------------------------------------------</a:t>
            </a:r>
          </a:p>
          <a:p>
            <a:r>
              <a:rPr lang="en-US" altLang="zh-TW" sz="1000" dirty="0"/>
              <a:t># </a:t>
            </a:r>
            <a:r>
              <a:rPr lang="zh-TW" altLang="en-US" sz="1000" dirty="0"/>
              <a:t>模擬多維度 </a:t>
            </a:r>
            <a:r>
              <a:rPr lang="en-US" altLang="zh-TW" sz="1000" dirty="0"/>
              <a:t>AMR </a:t>
            </a:r>
            <a:r>
              <a:rPr lang="zh-TW" altLang="en-US" sz="1000" dirty="0"/>
              <a:t>黑盒評價方程 </a:t>
            </a:r>
            <a:r>
              <a:rPr lang="en-US" altLang="zh-TW" sz="1000" dirty="0"/>
              <a:t>(</a:t>
            </a:r>
            <a:r>
              <a:rPr lang="zh-TW" altLang="en-US" sz="1000" dirty="0"/>
              <a:t>綜合考慮物理動態與控制</a:t>
            </a:r>
            <a:r>
              <a:rPr lang="en-US" altLang="zh-TW" sz="1000" dirty="0"/>
              <a:t>):</a:t>
            </a:r>
          </a:p>
          <a:p>
            <a:r>
              <a:rPr lang="en-US" altLang="zh-TW" sz="1000" dirty="0"/>
              <a:t># -----------------------------------------------------------</a:t>
            </a:r>
          </a:p>
          <a:p>
            <a:r>
              <a:rPr lang="en-US" altLang="zh-TW" sz="1000" dirty="0"/>
              <a:t># 1. </a:t>
            </a:r>
            <a:r>
              <a:rPr lang="zh-TW" altLang="en-US" sz="1000" dirty="0"/>
              <a:t>執行時間 </a:t>
            </a:r>
            <a:r>
              <a:rPr lang="en-US" altLang="zh-TW" sz="1000" dirty="0"/>
              <a:t>Time: </a:t>
            </a:r>
            <a:r>
              <a:rPr lang="zh-TW" altLang="en-US" sz="1000" dirty="0"/>
              <a:t>受最高速度限制，但加速度大降速快；轉向太靈敏可能震盪耗時</a:t>
            </a:r>
          </a:p>
          <a:p>
            <a:r>
              <a:rPr lang="zh-TW" altLang="en-US" sz="1000" dirty="0"/>
              <a:t>        </a:t>
            </a:r>
            <a:r>
              <a:rPr lang="en-US" altLang="zh-TW" sz="1000" dirty="0" err="1"/>
              <a:t>execution_time</a:t>
            </a:r>
            <a:r>
              <a:rPr lang="en-US" altLang="zh-TW" sz="1000" dirty="0"/>
              <a:t> = (100.0 / 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) + (10.0 /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+ (0.3 *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) + (0.2 * 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)</a:t>
            </a:r>
          </a:p>
          <a:p>
            <a:r>
              <a:rPr lang="en-US" altLang="zh-TW" sz="1000" dirty="0"/>
              <a:t>        </a:t>
            </a:r>
          </a:p>
          <a:p>
            <a:r>
              <a:rPr lang="en-US" altLang="zh-TW" sz="1000" dirty="0"/>
              <a:t># 2. </a:t>
            </a:r>
            <a:r>
              <a:rPr lang="zh-TW" altLang="en-US" sz="1000" dirty="0"/>
              <a:t>碰撞與不平穩風險 </a:t>
            </a:r>
            <a:r>
              <a:rPr lang="en-US" altLang="zh-TW" sz="1000" dirty="0"/>
              <a:t>Risk: </a:t>
            </a:r>
            <a:r>
              <a:rPr lang="zh-TW" altLang="en-US" sz="1000" dirty="0"/>
              <a:t>速度與加速度越大風險越高；安全權重與 </a:t>
            </a:r>
            <a:r>
              <a:rPr lang="en-US" altLang="zh-TW" sz="1000" dirty="0"/>
              <a:t>MPC </a:t>
            </a:r>
            <a:r>
              <a:rPr lang="zh-TW" altLang="en-US" sz="1000" dirty="0"/>
              <a:t>比值越大越平穩</a:t>
            </a:r>
            <a:r>
              <a:rPr lang="en-US" altLang="zh-TW" sz="1000" dirty="0"/>
              <a:t>(</a:t>
            </a:r>
            <a:r>
              <a:rPr lang="zh-TW" altLang="en-US" sz="1000" dirty="0"/>
              <a:t>風險低</a:t>
            </a:r>
            <a:r>
              <a:rPr lang="en-US" altLang="zh-TW" sz="1000" dirty="0"/>
              <a:t>)</a:t>
            </a:r>
          </a:p>
          <a:p>
            <a:r>
              <a:rPr lang="en-US" altLang="zh-TW" sz="1000" dirty="0"/>
              <a:t>        </a:t>
            </a:r>
            <a:r>
              <a:rPr lang="en-US" altLang="zh-TW" sz="1000" dirty="0" err="1"/>
              <a:t>collision_risk</a:t>
            </a:r>
            <a:r>
              <a:rPr lang="en-US" altLang="zh-TW" sz="1000" dirty="0"/>
              <a:t> = (0.15 * (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 ** 2)) + (0.5 *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+ (5.0 /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) + (100.0 / </a:t>
            </a:r>
            <a:r>
              <a:rPr lang="en-US" altLang="zh-TW" sz="1000" dirty="0" err="1"/>
              <a:t>q_r_ratio</a:t>
            </a:r>
            <a:r>
              <a:rPr lang="en-US" altLang="zh-TW" sz="1000" dirty="0"/>
              <a:t>)</a:t>
            </a:r>
            <a:endParaRPr lang="zh-TW" altLang="en-US" sz="10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B5C9E9C-4FE5-5890-52FB-07BFECD02740}"/>
              </a:ext>
            </a:extLst>
          </p:cNvPr>
          <p:cNvSpPr txBox="1"/>
          <p:nvPr/>
        </p:nvSpPr>
        <p:spPr>
          <a:xfrm>
            <a:off x="6580336" y="912357"/>
            <a:ext cx="5331755" cy="17851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# === 【GA </a:t>
            </a:r>
            <a:r>
              <a:rPr lang="zh-TW" altLang="en-US" sz="1000" dirty="0"/>
              <a:t>參數可調區域</a:t>
            </a:r>
            <a:r>
              <a:rPr lang="en-US" altLang="zh-TW" sz="1000" dirty="0"/>
              <a:t>】 ===</a:t>
            </a:r>
          </a:p>
          <a:p>
            <a:r>
              <a:rPr lang="en-US" altLang="zh-TW" sz="1000" dirty="0"/>
              <a:t>POP_SIZE = 60          # </a:t>
            </a:r>
            <a:r>
              <a:rPr lang="zh-TW" altLang="en-US" sz="1000" dirty="0"/>
              <a:t>族群大小 </a:t>
            </a:r>
            <a:r>
              <a:rPr lang="en-US" altLang="zh-TW" sz="1000" dirty="0"/>
              <a:t>(Population Size)</a:t>
            </a:r>
          </a:p>
          <a:p>
            <a:r>
              <a:rPr lang="en-US" altLang="zh-TW" sz="1000" b="1" dirty="0">
                <a:solidFill>
                  <a:srgbClr val="00B0F0"/>
                </a:solidFill>
              </a:rPr>
              <a:t>N_GEN = 100             # </a:t>
            </a:r>
            <a:r>
              <a:rPr lang="zh-TW" altLang="en-US" sz="1000" b="1" dirty="0">
                <a:solidFill>
                  <a:srgbClr val="00B0F0"/>
                </a:solidFill>
              </a:rPr>
              <a:t>演化代數 </a:t>
            </a:r>
            <a:r>
              <a:rPr lang="en-US" altLang="zh-TW" sz="1000" b="1" dirty="0">
                <a:solidFill>
                  <a:srgbClr val="00B0F0"/>
                </a:solidFill>
              </a:rPr>
              <a:t>(Generations)</a:t>
            </a:r>
          </a:p>
          <a:p>
            <a:endParaRPr lang="en-US" altLang="zh-TW" sz="1000" dirty="0"/>
          </a:p>
          <a:p>
            <a:r>
              <a:rPr lang="en-US" altLang="zh-TW" sz="1000" dirty="0"/>
              <a:t># SBX </a:t>
            </a:r>
            <a:r>
              <a:rPr lang="zh-TW" altLang="en-US" sz="1000" dirty="0"/>
              <a:t>交叉算子設定 </a:t>
            </a:r>
            <a:r>
              <a:rPr lang="en-US" altLang="zh-TW" sz="1000" dirty="0"/>
              <a:t>(Simulated Binary Crossover)</a:t>
            </a:r>
          </a:p>
          <a:p>
            <a:r>
              <a:rPr lang="en-US" altLang="zh-TW" sz="1000" dirty="0"/>
              <a:t>CROSSOVER_PROB = 0.9   # </a:t>
            </a:r>
            <a:r>
              <a:rPr lang="zh-TW" altLang="en-US" sz="1000" dirty="0"/>
              <a:t>交叉機率 </a:t>
            </a:r>
            <a:r>
              <a:rPr lang="en-US" altLang="zh-TW" sz="1000" dirty="0"/>
              <a:t>(</a:t>
            </a:r>
            <a:r>
              <a:rPr lang="zh-TW" altLang="en-US" sz="1000" dirty="0"/>
              <a:t>預設 </a:t>
            </a:r>
            <a:r>
              <a:rPr lang="en-US" altLang="zh-TW" sz="1000" dirty="0"/>
              <a:t>0.9)</a:t>
            </a:r>
          </a:p>
          <a:p>
            <a:r>
              <a:rPr lang="en-US" altLang="zh-TW" sz="1000" dirty="0"/>
              <a:t>ETA_C = 15.0           # </a:t>
            </a:r>
            <a:r>
              <a:rPr lang="zh-TW" altLang="en-US" sz="1000" dirty="0"/>
              <a:t>交叉分佈指數 </a:t>
            </a:r>
            <a:r>
              <a:rPr lang="el-GR" altLang="zh-TW" sz="1000" dirty="0"/>
              <a:t>η_</a:t>
            </a:r>
            <a:r>
              <a:rPr lang="en-US" altLang="zh-TW" sz="1000" dirty="0"/>
              <a:t>c (</a:t>
            </a:r>
            <a:r>
              <a:rPr lang="zh-TW" altLang="en-US" sz="1000" dirty="0"/>
              <a:t>值越大搜尋越保守，值越小搜尋越激進</a:t>
            </a:r>
            <a:r>
              <a:rPr lang="en-US" altLang="zh-TW" sz="1000" dirty="0"/>
              <a:t>)</a:t>
            </a:r>
          </a:p>
          <a:p>
            <a:endParaRPr lang="en-US" altLang="zh-TW" sz="1000" dirty="0"/>
          </a:p>
          <a:p>
            <a:r>
              <a:rPr lang="en-US" altLang="zh-TW" sz="1000" dirty="0"/>
              <a:t># </a:t>
            </a:r>
            <a:r>
              <a:rPr lang="zh-TW" altLang="en-US" sz="1000" dirty="0"/>
              <a:t>多項式突變算子設定 </a:t>
            </a:r>
            <a:r>
              <a:rPr lang="en-US" altLang="zh-TW" sz="1000" dirty="0"/>
              <a:t>(Polynomial Mutation)</a:t>
            </a:r>
          </a:p>
          <a:p>
            <a:r>
              <a:rPr lang="en-US" altLang="zh-TW" sz="1000" dirty="0"/>
              <a:t>MUTATION_PROB = 0.2    # </a:t>
            </a:r>
            <a:r>
              <a:rPr lang="zh-TW" altLang="en-US" sz="1000" dirty="0"/>
              <a:t>突變機率 </a:t>
            </a:r>
            <a:r>
              <a:rPr lang="en-US" altLang="zh-TW" sz="1000" dirty="0"/>
              <a:t>(</a:t>
            </a:r>
            <a:r>
              <a:rPr lang="zh-TW" altLang="en-US" sz="1000" dirty="0"/>
              <a:t>建議設為 </a:t>
            </a:r>
            <a:r>
              <a:rPr lang="en-US" altLang="zh-TW" sz="1000" dirty="0"/>
              <a:t>1/</a:t>
            </a:r>
            <a:r>
              <a:rPr lang="en-US" altLang="zh-TW" sz="1000" dirty="0" err="1"/>
              <a:t>n_var</a:t>
            </a:r>
            <a:r>
              <a:rPr lang="en-US" altLang="zh-TW" sz="1000" dirty="0"/>
              <a:t> = 1/5 = 0.2)</a:t>
            </a:r>
          </a:p>
          <a:p>
            <a:r>
              <a:rPr lang="en-US" altLang="zh-TW" sz="1000" dirty="0"/>
              <a:t>ETA_M = 20.0           # </a:t>
            </a:r>
            <a:r>
              <a:rPr lang="zh-TW" altLang="en-US" sz="1000" dirty="0"/>
              <a:t>突變分佈指數 </a:t>
            </a:r>
            <a:r>
              <a:rPr lang="el-GR" altLang="zh-TW" sz="1000" dirty="0"/>
              <a:t>η_</a:t>
            </a:r>
            <a:r>
              <a:rPr lang="en-US" altLang="zh-TW" sz="1000" dirty="0"/>
              <a:t>m (</a:t>
            </a:r>
            <a:r>
              <a:rPr lang="zh-TW" altLang="en-US" sz="1000" dirty="0"/>
              <a:t>值越大擾動幅度越小</a:t>
            </a:r>
            <a:r>
              <a:rPr lang="en-US" altLang="zh-TW" sz="1000" dirty="0"/>
              <a:t>/</a:t>
            </a:r>
            <a:r>
              <a:rPr lang="zh-TW" altLang="en-US" sz="1000" dirty="0"/>
              <a:t>精細，值越小擾動越劇烈</a:t>
            </a:r>
            <a:r>
              <a:rPr lang="en-US" altLang="zh-TW" sz="1000" dirty="0"/>
              <a:t>)</a:t>
            </a:r>
            <a:endParaRPr lang="zh-TW" altLang="en-US" sz="10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9128517-7244-3319-E9F8-4E8D21AA06CC}"/>
              </a:ext>
            </a:extLst>
          </p:cNvPr>
          <p:cNvSpPr txBox="1"/>
          <p:nvPr/>
        </p:nvSpPr>
        <p:spPr>
          <a:xfrm>
            <a:off x="6580336" y="2962586"/>
            <a:ext cx="5331755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=== 5 </a:t>
            </a:r>
            <a:r>
              <a:rPr lang="zh-TW" altLang="en-US" sz="1000" dirty="0"/>
              <a:t>維 </a:t>
            </a:r>
            <a:r>
              <a:rPr lang="en-US" altLang="zh-TW" sz="1000" dirty="0"/>
              <a:t>AMR </a:t>
            </a:r>
            <a:r>
              <a:rPr lang="zh-TW" altLang="en-US" sz="1000" dirty="0"/>
              <a:t>超參數 </a:t>
            </a:r>
            <a:r>
              <a:rPr lang="en-US" altLang="zh-TW" sz="1000" dirty="0"/>
              <a:t>- </a:t>
            </a:r>
            <a:r>
              <a:rPr lang="zh-TW" altLang="en-US" sz="1000" dirty="0"/>
              <a:t>帕累托最優解 </a:t>
            </a:r>
            <a:r>
              <a:rPr lang="en-US" altLang="zh-TW" sz="1000" dirty="0"/>
              <a:t>(</a:t>
            </a:r>
            <a:r>
              <a:rPr lang="zh-TW" altLang="en-US" sz="1000" dirty="0"/>
              <a:t>部分</a:t>
            </a:r>
            <a:r>
              <a:rPr lang="en-US" altLang="zh-TW" sz="1000" dirty="0"/>
              <a:t>) ===</a:t>
            </a:r>
          </a:p>
          <a:p>
            <a:r>
              <a:rPr lang="en-US" altLang="zh-TW" sz="1000" dirty="0"/>
              <a:t>  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 | 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q_r_ratio</a:t>
            </a:r>
            <a:r>
              <a:rPr lang="en-US" altLang="zh-TW" sz="1000" dirty="0"/>
              <a:t> || Exec Time | Risk Score</a:t>
            </a:r>
          </a:p>
          <a:p>
            <a:r>
              <a:rPr lang="en-US" altLang="zh-TW" sz="1000" dirty="0"/>
              <a:t>---------------------------------------------------------------------------</a:t>
            </a:r>
          </a:p>
          <a:p>
            <a:r>
              <a:rPr lang="en-US" altLang="zh-TW" sz="1000" dirty="0"/>
              <a:t>   3.00 |   2.00 |     0.11 |    0.50 |     999.1 ||     38.47 |      49.68</a:t>
            </a:r>
          </a:p>
          <a:p>
            <a:r>
              <a:rPr lang="en-US" altLang="zh-TW" sz="1000" dirty="0"/>
              <a:t>   0.50 |   0.10 |    10.00 |    0.50 |     997.1 ||    301.80 |       0.69</a:t>
            </a:r>
          </a:p>
          <a:p>
            <a:r>
              <a:rPr lang="en-US" altLang="zh-TW" sz="1000" dirty="0"/>
              <a:t>   0.82 |   0.24 |     9.92 |    0.50 |     999.3 ||    165.73 |       0.83</a:t>
            </a:r>
          </a:p>
          <a:p>
            <a:r>
              <a:rPr lang="en-US" altLang="zh-TW" sz="1000" dirty="0"/>
              <a:t>   3.00 |   2.00 |     0.18 |    0.50 |     998.5 ||     38.49 |      29.99</a:t>
            </a:r>
          </a:p>
          <a:p>
            <a:r>
              <a:rPr lang="en-US" altLang="zh-TW" sz="1000" dirty="0"/>
              <a:t>   0.67 |   0.10 |    10.00 |    0.83 |     997.0 ||    252.19 |       0.72</a:t>
            </a:r>
          </a:p>
          <a:p>
            <a:endParaRPr lang="en-US" altLang="zh-TW" sz="1000" dirty="0"/>
          </a:p>
          <a:p>
            <a:r>
              <a:rPr lang="en-US" altLang="zh-TW" sz="1000" dirty="0"/>
              <a:t>==================================================</a:t>
            </a:r>
          </a:p>
          <a:p>
            <a:r>
              <a:rPr lang="en-US" altLang="zh-TW" sz="1000" dirty="0"/>
              <a:t>★【</a:t>
            </a:r>
            <a:r>
              <a:rPr lang="zh-TW" altLang="en-US" sz="1000" dirty="0"/>
              <a:t>膝點法計算結果 </a:t>
            </a:r>
            <a:r>
              <a:rPr lang="en-US" altLang="zh-TW" sz="1000" dirty="0"/>
              <a:t>- </a:t>
            </a:r>
            <a:r>
              <a:rPr lang="zh-TW" altLang="en-US" sz="1000" dirty="0"/>
              <a:t>最佳折衷方案 </a:t>
            </a:r>
            <a:r>
              <a:rPr lang="en-US" altLang="zh-TW" sz="1000" dirty="0"/>
              <a:t>(Knee Point / Best Trade-off)】★</a:t>
            </a:r>
          </a:p>
          <a:p>
            <a:r>
              <a:rPr lang="en-US" altLang="zh-TW" sz="1000" dirty="0"/>
              <a:t>==================================================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最高車速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)     : 2.94 m/s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最大加速度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  : 1.83 m/s²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安全距離權重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w_safe</a:t>
            </a:r>
            <a:r>
              <a:rPr lang="en-US" altLang="zh-TW" sz="1000" dirty="0"/>
              <a:t>): 10.00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轉向靈敏度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)  : 0.50</a:t>
            </a:r>
          </a:p>
          <a:p>
            <a:r>
              <a:rPr lang="en-US" altLang="zh-TW" sz="1000" dirty="0"/>
              <a:t> ▸ MPC Q/R </a:t>
            </a:r>
            <a:r>
              <a:rPr lang="zh-TW" altLang="en-US" sz="1000" dirty="0"/>
              <a:t>比值         </a:t>
            </a:r>
            <a:r>
              <a:rPr lang="en-US" altLang="zh-TW" sz="1000" dirty="0"/>
              <a:t>: 999.8</a:t>
            </a:r>
          </a:p>
          <a:p>
            <a:r>
              <a:rPr lang="en-US" altLang="zh-TW" sz="1000" dirty="0"/>
              <a:t>---------------------------------------------</a:t>
            </a:r>
          </a:p>
          <a:p>
            <a:r>
              <a:rPr lang="en-US" altLang="zh-TW" sz="1000" dirty="0"/>
              <a:t> </a:t>
            </a:r>
            <a:r>
              <a:rPr lang="zh-TW" altLang="en-US" sz="1000" dirty="0"/>
              <a:t>🎯 執行時間 </a:t>
            </a:r>
            <a:r>
              <a:rPr lang="en-US" altLang="zh-TW" sz="1000" dirty="0"/>
              <a:t>(Exec Time) : 42.58 </a:t>
            </a:r>
            <a:r>
              <a:rPr lang="zh-TW" altLang="en-US" sz="1000" dirty="0"/>
              <a:t>秒</a:t>
            </a:r>
          </a:p>
          <a:p>
            <a:r>
              <a:rPr lang="zh-TW" altLang="en-US" sz="1000" dirty="0"/>
              <a:t> 🎯 碰撞風險 </a:t>
            </a:r>
            <a:r>
              <a:rPr lang="en-US" altLang="zh-TW" sz="1000" dirty="0"/>
              <a:t>(Risk Score): 2.81</a:t>
            </a:r>
          </a:p>
          <a:p>
            <a:r>
              <a:rPr lang="en-US" altLang="zh-TW" sz="1000" dirty="0"/>
              <a:t>==================================================</a:t>
            </a:r>
            <a:endParaRPr lang="zh-TW" altLang="en-US" sz="1000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E0D603A-3B28-2A4D-1568-99319ADC6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633" y="2261419"/>
            <a:ext cx="6010451" cy="4332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198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87DF5-CA81-605B-E7DE-DA7CE473B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82F1C9-9B1C-B93C-B0E4-F8D4191EACF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FB5B8444-A4CD-1BD2-7442-59ABA306FDE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BBFEC6D4-6994-4954-63B9-8DBF396EC49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lvl="0">
              <a:defRPr/>
            </a:pPr>
            <a:r>
              <a:rPr lang="zh-TW" altLang="en-US" sz="2900" dirty="0">
                <a:solidFill>
                  <a:srgbClr val="FFFFFF"/>
                </a:solidFill>
              </a:rPr>
              <a:t>帕累托前緣曲線結果與最佳化超參數結果呈現 </a:t>
            </a:r>
            <a:r>
              <a:rPr lang="en-US" altLang="zh-TW" sz="2900" dirty="0">
                <a:solidFill>
                  <a:srgbClr val="FFFFFF"/>
                </a:solidFill>
              </a:rPr>
              <a:t>(4)</a:t>
            </a: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DFEAE8D-7B3A-8067-0F07-1E7319AE6B1F}"/>
              </a:ext>
            </a:extLst>
          </p:cNvPr>
          <p:cNvSpPr txBox="1"/>
          <p:nvPr/>
        </p:nvSpPr>
        <p:spPr>
          <a:xfrm>
            <a:off x="349358" y="699083"/>
            <a:ext cx="5962749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# -----------------------------------------------------------</a:t>
            </a:r>
          </a:p>
          <a:p>
            <a:r>
              <a:rPr lang="en-US" altLang="zh-TW" sz="1000" dirty="0"/>
              <a:t># </a:t>
            </a:r>
            <a:r>
              <a:rPr lang="zh-TW" altLang="en-US" sz="1000" dirty="0"/>
              <a:t>模擬多維度 </a:t>
            </a:r>
            <a:r>
              <a:rPr lang="en-US" altLang="zh-TW" sz="1000" dirty="0"/>
              <a:t>AMR </a:t>
            </a:r>
            <a:r>
              <a:rPr lang="zh-TW" altLang="en-US" sz="1000" dirty="0"/>
              <a:t>黑盒評價方程 </a:t>
            </a:r>
            <a:r>
              <a:rPr lang="en-US" altLang="zh-TW" sz="1000" dirty="0"/>
              <a:t>(</a:t>
            </a:r>
            <a:r>
              <a:rPr lang="zh-TW" altLang="en-US" sz="1000" dirty="0"/>
              <a:t>綜合考慮物理動態與控制</a:t>
            </a:r>
            <a:r>
              <a:rPr lang="en-US" altLang="zh-TW" sz="1000" dirty="0"/>
              <a:t>):</a:t>
            </a:r>
          </a:p>
          <a:p>
            <a:r>
              <a:rPr lang="en-US" altLang="zh-TW" sz="1000" dirty="0"/>
              <a:t># -----------------------------------------------------------</a:t>
            </a:r>
          </a:p>
          <a:p>
            <a:r>
              <a:rPr lang="en-US" altLang="zh-TW" sz="1000" dirty="0"/>
              <a:t># 1. </a:t>
            </a:r>
            <a:r>
              <a:rPr lang="zh-TW" altLang="en-US" sz="1000" dirty="0"/>
              <a:t>執行時間 </a:t>
            </a:r>
            <a:r>
              <a:rPr lang="en-US" altLang="zh-TW" sz="1000" dirty="0"/>
              <a:t>Time: </a:t>
            </a:r>
            <a:r>
              <a:rPr lang="zh-TW" altLang="en-US" sz="1000" dirty="0"/>
              <a:t>受最高速度限制，但加速度大降速快；轉向太靈敏可能震盪耗時</a:t>
            </a:r>
          </a:p>
          <a:p>
            <a:r>
              <a:rPr lang="zh-TW" altLang="en-US" sz="1000" dirty="0"/>
              <a:t>        </a:t>
            </a:r>
            <a:r>
              <a:rPr lang="en-US" altLang="zh-TW" sz="1000" dirty="0" err="1"/>
              <a:t>execution_time</a:t>
            </a:r>
            <a:r>
              <a:rPr lang="en-US" altLang="zh-TW" sz="1000" dirty="0"/>
              <a:t> = (100.0 / 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) + (10.0 /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+ (0.3 *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) + (0.2 * 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)</a:t>
            </a:r>
          </a:p>
          <a:p>
            <a:r>
              <a:rPr lang="en-US" altLang="zh-TW" sz="1000" dirty="0"/>
              <a:t>        </a:t>
            </a:r>
          </a:p>
          <a:p>
            <a:r>
              <a:rPr lang="en-US" altLang="zh-TW" sz="1000" dirty="0"/>
              <a:t># 2. </a:t>
            </a:r>
            <a:r>
              <a:rPr lang="zh-TW" altLang="en-US" sz="1000" dirty="0"/>
              <a:t>碰撞與不平穩風險 </a:t>
            </a:r>
            <a:r>
              <a:rPr lang="en-US" altLang="zh-TW" sz="1000" dirty="0"/>
              <a:t>Risk: </a:t>
            </a:r>
            <a:r>
              <a:rPr lang="zh-TW" altLang="en-US" sz="1000" dirty="0"/>
              <a:t>速度與加速度越大風險越高；安全權重與 </a:t>
            </a:r>
            <a:r>
              <a:rPr lang="en-US" altLang="zh-TW" sz="1000" dirty="0"/>
              <a:t>MPC </a:t>
            </a:r>
            <a:r>
              <a:rPr lang="zh-TW" altLang="en-US" sz="1000" dirty="0"/>
              <a:t>比值越大越平穩</a:t>
            </a:r>
            <a:r>
              <a:rPr lang="en-US" altLang="zh-TW" sz="1000" dirty="0"/>
              <a:t>(</a:t>
            </a:r>
            <a:r>
              <a:rPr lang="zh-TW" altLang="en-US" sz="1000" dirty="0"/>
              <a:t>風險低</a:t>
            </a:r>
            <a:r>
              <a:rPr lang="en-US" altLang="zh-TW" sz="1000" dirty="0"/>
              <a:t>)</a:t>
            </a:r>
          </a:p>
          <a:p>
            <a:r>
              <a:rPr lang="en-US" altLang="zh-TW" sz="1000" dirty="0"/>
              <a:t>        </a:t>
            </a:r>
            <a:r>
              <a:rPr lang="en-US" altLang="zh-TW" sz="1000" dirty="0" err="1"/>
              <a:t>collision_risk</a:t>
            </a:r>
            <a:r>
              <a:rPr lang="en-US" altLang="zh-TW" sz="1000" dirty="0"/>
              <a:t> = (0.15 * (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 ** 2)) + (0.5 *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+ (5.0 /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) + (100.0 / </a:t>
            </a:r>
            <a:r>
              <a:rPr lang="en-US" altLang="zh-TW" sz="1000" dirty="0" err="1"/>
              <a:t>q_r_ratio</a:t>
            </a:r>
            <a:r>
              <a:rPr lang="en-US" altLang="zh-TW" sz="1000" dirty="0"/>
              <a:t>)</a:t>
            </a:r>
            <a:endParaRPr lang="zh-TW" altLang="en-US" sz="10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65A6865-000E-2CA5-033A-9CE826096A9F}"/>
              </a:ext>
            </a:extLst>
          </p:cNvPr>
          <p:cNvSpPr txBox="1"/>
          <p:nvPr/>
        </p:nvSpPr>
        <p:spPr>
          <a:xfrm>
            <a:off x="6580336" y="912357"/>
            <a:ext cx="5331755" cy="17851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# === 【GA </a:t>
            </a:r>
            <a:r>
              <a:rPr lang="zh-TW" altLang="en-US" sz="1000" dirty="0"/>
              <a:t>參數可調區域</a:t>
            </a:r>
            <a:r>
              <a:rPr lang="en-US" altLang="zh-TW" sz="1000" dirty="0"/>
              <a:t>】 ===</a:t>
            </a:r>
          </a:p>
          <a:p>
            <a:r>
              <a:rPr lang="en-US" altLang="zh-TW" sz="1000" dirty="0"/>
              <a:t>POP_SIZE = 60          # </a:t>
            </a:r>
            <a:r>
              <a:rPr lang="zh-TW" altLang="en-US" sz="1000" dirty="0"/>
              <a:t>族群大小 </a:t>
            </a:r>
            <a:r>
              <a:rPr lang="en-US" altLang="zh-TW" sz="1000" dirty="0"/>
              <a:t>(Population Size)</a:t>
            </a:r>
          </a:p>
          <a:p>
            <a:r>
              <a:rPr lang="en-US" altLang="zh-TW" sz="1000" dirty="0"/>
              <a:t>N_GEN = 50             # </a:t>
            </a:r>
            <a:r>
              <a:rPr lang="zh-TW" altLang="en-US" sz="1000" dirty="0"/>
              <a:t>演化代數 </a:t>
            </a:r>
            <a:r>
              <a:rPr lang="en-US" altLang="zh-TW" sz="1000" dirty="0"/>
              <a:t>(Generations)</a:t>
            </a:r>
          </a:p>
          <a:p>
            <a:endParaRPr lang="en-US" altLang="zh-TW" sz="1000" dirty="0"/>
          </a:p>
          <a:p>
            <a:r>
              <a:rPr lang="en-US" altLang="zh-TW" sz="1000" dirty="0"/>
              <a:t># SBX </a:t>
            </a:r>
            <a:r>
              <a:rPr lang="zh-TW" altLang="en-US" sz="1000" dirty="0"/>
              <a:t>交叉算子設定 </a:t>
            </a:r>
            <a:r>
              <a:rPr lang="en-US" altLang="zh-TW" sz="1000" dirty="0"/>
              <a:t>(Simulated Binary Crossover)</a:t>
            </a:r>
          </a:p>
          <a:p>
            <a:r>
              <a:rPr lang="en-US" altLang="zh-TW" sz="1000" dirty="0"/>
              <a:t>CROSSOVER_PROB = 0.9   # </a:t>
            </a:r>
            <a:r>
              <a:rPr lang="zh-TW" altLang="en-US" sz="1000" dirty="0"/>
              <a:t>交叉機率 </a:t>
            </a:r>
            <a:r>
              <a:rPr lang="en-US" altLang="zh-TW" sz="1000" dirty="0"/>
              <a:t>(</a:t>
            </a:r>
            <a:r>
              <a:rPr lang="zh-TW" altLang="en-US" sz="1000" dirty="0"/>
              <a:t>預設 </a:t>
            </a:r>
            <a:r>
              <a:rPr lang="en-US" altLang="zh-TW" sz="1000" dirty="0"/>
              <a:t>0.9)</a:t>
            </a:r>
          </a:p>
          <a:p>
            <a:r>
              <a:rPr lang="en-US" altLang="zh-TW" sz="1000" b="1" dirty="0">
                <a:solidFill>
                  <a:srgbClr val="00B0F0"/>
                </a:solidFill>
              </a:rPr>
              <a:t>ETA_C = 1000.0           # </a:t>
            </a:r>
            <a:r>
              <a:rPr lang="zh-TW" altLang="en-US" sz="1000" b="1" dirty="0">
                <a:solidFill>
                  <a:srgbClr val="00B0F0"/>
                </a:solidFill>
              </a:rPr>
              <a:t>交叉分佈指數 </a:t>
            </a:r>
            <a:r>
              <a:rPr lang="el-GR" altLang="zh-TW" sz="1000" b="1" dirty="0">
                <a:solidFill>
                  <a:srgbClr val="00B0F0"/>
                </a:solidFill>
              </a:rPr>
              <a:t>η_</a:t>
            </a:r>
            <a:r>
              <a:rPr lang="en-US" altLang="zh-TW" sz="1000" b="1" dirty="0">
                <a:solidFill>
                  <a:srgbClr val="00B0F0"/>
                </a:solidFill>
              </a:rPr>
              <a:t>c (</a:t>
            </a:r>
            <a:r>
              <a:rPr lang="zh-TW" altLang="en-US" sz="1000" b="1" dirty="0">
                <a:solidFill>
                  <a:srgbClr val="00B0F0"/>
                </a:solidFill>
              </a:rPr>
              <a:t>值越大搜尋越保守，值越小搜尋越激進</a:t>
            </a:r>
            <a:r>
              <a:rPr lang="en-US" altLang="zh-TW" sz="1000" b="1" dirty="0">
                <a:solidFill>
                  <a:srgbClr val="00B0F0"/>
                </a:solidFill>
              </a:rPr>
              <a:t>)</a:t>
            </a:r>
          </a:p>
          <a:p>
            <a:endParaRPr lang="en-US" altLang="zh-TW" sz="1000" dirty="0"/>
          </a:p>
          <a:p>
            <a:r>
              <a:rPr lang="en-US" altLang="zh-TW" sz="1000" dirty="0"/>
              <a:t># </a:t>
            </a:r>
            <a:r>
              <a:rPr lang="zh-TW" altLang="en-US" sz="1000" dirty="0"/>
              <a:t>多項式突變算子設定 </a:t>
            </a:r>
            <a:r>
              <a:rPr lang="en-US" altLang="zh-TW" sz="1000" dirty="0"/>
              <a:t>(Polynomial Mutation)</a:t>
            </a:r>
          </a:p>
          <a:p>
            <a:r>
              <a:rPr lang="en-US" altLang="zh-TW" sz="1000" dirty="0"/>
              <a:t>MUTATION_PROB = 0.2    # </a:t>
            </a:r>
            <a:r>
              <a:rPr lang="zh-TW" altLang="en-US" sz="1000" dirty="0"/>
              <a:t>突變機率 </a:t>
            </a:r>
            <a:r>
              <a:rPr lang="en-US" altLang="zh-TW" sz="1000" dirty="0"/>
              <a:t>(</a:t>
            </a:r>
            <a:r>
              <a:rPr lang="zh-TW" altLang="en-US" sz="1000" dirty="0"/>
              <a:t>建議設為 </a:t>
            </a:r>
            <a:r>
              <a:rPr lang="en-US" altLang="zh-TW" sz="1000" dirty="0"/>
              <a:t>1/</a:t>
            </a:r>
            <a:r>
              <a:rPr lang="en-US" altLang="zh-TW" sz="1000" dirty="0" err="1"/>
              <a:t>n_var</a:t>
            </a:r>
            <a:r>
              <a:rPr lang="en-US" altLang="zh-TW" sz="1000" dirty="0"/>
              <a:t> = 1/5 = 0.2)</a:t>
            </a:r>
          </a:p>
          <a:p>
            <a:r>
              <a:rPr lang="en-US" altLang="zh-TW" sz="1000" dirty="0"/>
              <a:t>ETA_M = 20.0           # </a:t>
            </a:r>
            <a:r>
              <a:rPr lang="zh-TW" altLang="en-US" sz="1000" dirty="0"/>
              <a:t>突變分佈指數 </a:t>
            </a:r>
            <a:r>
              <a:rPr lang="el-GR" altLang="zh-TW" sz="1000" dirty="0"/>
              <a:t>η_</a:t>
            </a:r>
            <a:r>
              <a:rPr lang="en-US" altLang="zh-TW" sz="1000" dirty="0"/>
              <a:t>m (</a:t>
            </a:r>
            <a:r>
              <a:rPr lang="zh-TW" altLang="en-US" sz="1000" dirty="0"/>
              <a:t>值越大擾動幅度越小</a:t>
            </a:r>
            <a:r>
              <a:rPr lang="en-US" altLang="zh-TW" sz="1000" dirty="0"/>
              <a:t>/</a:t>
            </a:r>
            <a:r>
              <a:rPr lang="zh-TW" altLang="en-US" sz="1000" dirty="0"/>
              <a:t>精細，值越小擾動越劇烈</a:t>
            </a:r>
            <a:r>
              <a:rPr lang="en-US" altLang="zh-TW" sz="1000" dirty="0"/>
              <a:t>)</a:t>
            </a:r>
            <a:endParaRPr lang="zh-TW" altLang="en-US" sz="10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81D7E31-D15C-4525-198C-0CAF9C943658}"/>
              </a:ext>
            </a:extLst>
          </p:cNvPr>
          <p:cNvSpPr txBox="1"/>
          <p:nvPr/>
        </p:nvSpPr>
        <p:spPr>
          <a:xfrm>
            <a:off x="6580336" y="2962586"/>
            <a:ext cx="5331755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=== 5 </a:t>
            </a:r>
            <a:r>
              <a:rPr lang="zh-TW" altLang="en-US" sz="1000" dirty="0"/>
              <a:t>維 </a:t>
            </a:r>
            <a:r>
              <a:rPr lang="en-US" altLang="zh-TW" sz="1000" dirty="0"/>
              <a:t>AMR </a:t>
            </a:r>
            <a:r>
              <a:rPr lang="zh-TW" altLang="en-US" sz="1000" dirty="0"/>
              <a:t>超參數 </a:t>
            </a:r>
            <a:r>
              <a:rPr lang="en-US" altLang="zh-TW" sz="1000" dirty="0"/>
              <a:t>- </a:t>
            </a:r>
            <a:r>
              <a:rPr lang="zh-TW" altLang="en-US" sz="1000" dirty="0"/>
              <a:t>帕累托最優解 </a:t>
            </a:r>
            <a:r>
              <a:rPr lang="en-US" altLang="zh-TW" sz="1000" dirty="0"/>
              <a:t>(</a:t>
            </a:r>
            <a:r>
              <a:rPr lang="zh-TW" altLang="en-US" sz="1000" dirty="0"/>
              <a:t>部分</a:t>
            </a:r>
            <a:r>
              <a:rPr lang="en-US" altLang="zh-TW" sz="1000" dirty="0"/>
              <a:t>) ===</a:t>
            </a:r>
          </a:p>
          <a:p>
            <a:r>
              <a:rPr lang="en-US" altLang="zh-TW" sz="1000" dirty="0"/>
              <a:t>  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 | 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q_r_ratio</a:t>
            </a:r>
            <a:r>
              <a:rPr lang="en-US" altLang="zh-TW" sz="1000" dirty="0"/>
              <a:t> || Exec Time | Risk Score</a:t>
            </a:r>
          </a:p>
          <a:p>
            <a:r>
              <a:rPr lang="en-US" altLang="zh-TW" sz="1000" dirty="0"/>
              <a:t>---------------------------------------------------------------------------</a:t>
            </a:r>
          </a:p>
          <a:p>
            <a:r>
              <a:rPr lang="en-US" altLang="zh-TW" sz="1000" dirty="0"/>
              <a:t>   0.52 |   0.11 |     9.98 |    1.19 |     997.7 ||    281.41 |       0.70</a:t>
            </a:r>
          </a:p>
          <a:p>
            <a:r>
              <a:rPr lang="en-US" altLang="zh-TW" sz="1000" dirty="0"/>
              <a:t>   2.97 |   1.82 |     2.74 |    1.19 |     978.7 ||     40.17 |       4.16</a:t>
            </a:r>
          </a:p>
          <a:p>
            <a:r>
              <a:rPr lang="en-US" altLang="zh-TW" sz="1000" dirty="0"/>
              <a:t>   2.97 |   1.54 |     3.17 |    1.08 |     994.8 ||     41.35 |       3.77</a:t>
            </a:r>
          </a:p>
          <a:p>
            <a:r>
              <a:rPr lang="en-US" altLang="zh-TW" sz="1000" dirty="0"/>
              <a:t>   2.99 |   1.84 |     7.90 |    1.08 |     986.2 ||     41.47 |       3.00</a:t>
            </a:r>
          </a:p>
          <a:p>
            <a:r>
              <a:rPr lang="en-US" altLang="zh-TW" sz="1000" dirty="0"/>
              <a:t>   0.52 |   0.13 |     9.98 |    1.16 |     994.8 ||    272.66 |       0.71</a:t>
            </a:r>
          </a:p>
          <a:p>
            <a:endParaRPr lang="en-US" altLang="zh-TW" sz="1000" dirty="0"/>
          </a:p>
          <a:p>
            <a:r>
              <a:rPr lang="en-US" altLang="zh-TW" sz="1000" dirty="0"/>
              <a:t>==================================================</a:t>
            </a:r>
          </a:p>
          <a:p>
            <a:r>
              <a:rPr lang="en-US" altLang="zh-TW" sz="1000" dirty="0"/>
              <a:t>★【</a:t>
            </a:r>
            <a:r>
              <a:rPr lang="zh-TW" altLang="en-US" sz="1000" dirty="0"/>
              <a:t>膝點法計算結果 </a:t>
            </a:r>
            <a:r>
              <a:rPr lang="en-US" altLang="zh-TW" sz="1000" dirty="0"/>
              <a:t>- </a:t>
            </a:r>
            <a:r>
              <a:rPr lang="zh-TW" altLang="en-US" sz="1000" dirty="0"/>
              <a:t>最佳折衷方案 </a:t>
            </a:r>
            <a:r>
              <a:rPr lang="en-US" altLang="zh-TW" sz="1000" dirty="0"/>
              <a:t>(Knee Point / Best Trade-off)】★</a:t>
            </a:r>
          </a:p>
          <a:p>
            <a:r>
              <a:rPr lang="en-US" altLang="zh-TW" sz="1000" dirty="0"/>
              <a:t>==================================================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最高車速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)     : 1.57 m/s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最大加速度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  : 0.56 m/s²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安全距離權重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w_safe</a:t>
            </a:r>
            <a:r>
              <a:rPr lang="en-US" altLang="zh-TW" sz="1000" dirty="0"/>
              <a:t>): 9.96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轉向靈敏度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)  : 0.82</a:t>
            </a:r>
          </a:p>
          <a:p>
            <a:r>
              <a:rPr lang="en-US" altLang="zh-TW" sz="1000" dirty="0"/>
              <a:t> ▸ MPC Q/R </a:t>
            </a:r>
            <a:r>
              <a:rPr lang="zh-TW" altLang="en-US" sz="1000" dirty="0"/>
              <a:t>比值         </a:t>
            </a:r>
            <a:r>
              <a:rPr lang="en-US" altLang="zh-TW" sz="1000" dirty="0"/>
              <a:t>: 990.2</a:t>
            </a:r>
          </a:p>
          <a:p>
            <a:r>
              <a:rPr lang="en-US" altLang="zh-TW" sz="1000" dirty="0"/>
              <a:t>---------------------------------------------</a:t>
            </a:r>
          </a:p>
          <a:p>
            <a:r>
              <a:rPr lang="en-US" altLang="zh-TW" sz="1000" dirty="0"/>
              <a:t> </a:t>
            </a:r>
            <a:r>
              <a:rPr lang="zh-TW" altLang="en-US" sz="1000" dirty="0"/>
              <a:t>🎯 執行時間 </a:t>
            </a:r>
            <a:r>
              <a:rPr lang="en-US" altLang="zh-TW" sz="1000" dirty="0"/>
              <a:t>(Exec Time) : 84.39 </a:t>
            </a:r>
            <a:r>
              <a:rPr lang="zh-TW" altLang="en-US" sz="1000" dirty="0"/>
              <a:t>秒</a:t>
            </a:r>
          </a:p>
          <a:p>
            <a:r>
              <a:rPr lang="zh-TW" altLang="en-US" sz="1000" dirty="0"/>
              <a:t> 🎯 碰撞風險 </a:t>
            </a:r>
            <a:r>
              <a:rPr lang="en-US" altLang="zh-TW" sz="1000" dirty="0"/>
              <a:t>(Risk Score): 1.26</a:t>
            </a:r>
          </a:p>
          <a:p>
            <a:r>
              <a:rPr lang="en-US" altLang="zh-TW" sz="1000" dirty="0"/>
              <a:t>==================================================</a:t>
            </a:r>
            <a:endParaRPr lang="zh-TW" altLang="en-US" sz="1000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8AF62BE-2CE5-46B9-6D8F-4C064E6FF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634" y="2261419"/>
            <a:ext cx="5959322" cy="4332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376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9B5BD-B3EE-AFF5-F943-BC0ED080D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473CE2-D48C-F08C-2D5B-9F45D682054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E37CD756-4E07-3EC9-75F6-DCBAE34DF2F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84E7E5CA-A85C-B5E8-234C-DF6950408C2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lvl="0">
              <a:defRPr/>
            </a:pPr>
            <a:r>
              <a:rPr lang="zh-TW" altLang="en-US" sz="2900" dirty="0">
                <a:solidFill>
                  <a:srgbClr val="FFFFFF"/>
                </a:solidFill>
              </a:rPr>
              <a:t>帕累托前緣曲線結果與最佳化超參數結果呈現 </a:t>
            </a:r>
            <a:r>
              <a:rPr lang="en-US" altLang="zh-TW" sz="2900" dirty="0">
                <a:solidFill>
                  <a:srgbClr val="FFFFFF"/>
                </a:solidFill>
              </a:rPr>
              <a:t>(5)</a:t>
            </a: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FB65B99-79D7-A0F0-5DF2-CE91819A7DAD}"/>
              </a:ext>
            </a:extLst>
          </p:cNvPr>
          <p:cNvSpPr txBox="1"/>
          <p:nvPr/>
        </p:nvSpPr>
        <p:spPr>
          <a:xfrm>
            <a:off x="349358" y="699083"/>
            <a:ext cx="5962749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# -----------------------------------------------------------</a:t>
            </a:r>
          </a:p>
          <a:p>
            <a:r>
              <a:rPr lang="en-US" altLang="zh-TW" sz="1000" dirty="0"/>
              <a:t># </a:t>
            </a:r>
            <a:r>
              <a:rPr lang="zh-TW" altLang="en-US" sz="1000" dirty="0"/>
              <a:t>模擬多維度 </a:t>
            </a:r>
            <a:r>
              <a:rPr lang="en-US" altLang="zh-TW" sz="1000" dirty="0"/>
              <a:t>AMR </a:t>
            </a:r>
            <a:r>
              <a:rPr lang="zh-TW" altLang="en-US" sz="1000" dirty="0"/>
              <a:t>黑盒評價方程 </a:t>
            </a:r>
            <a:r>
              <a:rPr lang="en-US" altLang="zh-TW" sz="1000" dirty="0"/>
              <a:t>(</a:t>
            </a:r>
            <a:r>
              <a:rPr lang="zh-TW" altLang="en-US" sz="1000" dirty="0"/>
              <a:t>綜合考慮物理動態與控制</a:t>
            </a:r>
            <a:r>
              <a:rPr lang="en-US" altLang="zh-TW" sz="1000" dirty="0"/>
              <a:t>):</a:t>
            </a:r>
          </a:p>
          <a:p>
            <a:r>
              <a:rPr lang="en-US" altLang="zh-TW" sz="1000" dirty="0"/>
              <a:t># -----------------------------------------------------------</a:t>
            </a:r>
          </a:p>
          <a:p>
            <a:r>
              <a:rPr lang="en-US" altLang="zh-TW" sz="1000" dirty="0"/>
              <a:t># 1. </a:t>
            </a:r>
            <a:r>
              <a:rPr lang="zh-TW" altLang="en-US" sz="1000" dirty="0"/>
              <a:t>執行時間 </a:t>
            </a:r>
            <a:r>
              <a:rPr lang="en-US" altLang="zh-TW" sz="1000" dirty="0"/>
              <a:t>Time: </a:t>
            </a:r>
            <a:r>
              <a:rPr lang="zh-TW" altLang="en-US" sz="1000" dirty="0"/>
              <a:t>受最高速度限制，但加速度大降速快；轉向太靈敏可能震盪耗時</a:t>
            </a:r>
          </a:p>
          <a:p>
            <a:r>
              <a:rPr lang="zh-TW" altLang="en-US" sz="1000" dirty="0"/>
              <a:t>        </a:t>
            </a:r>
            <a:r>
              <a:rPr lang="en-US" altLang="zh-TW" sz="1000" dirty="0" err="1"/>
              <a:t>execution_time</a:t>
            </a:r>
            <a:r>
              <a:rPr lang="en-US" altLang="zh-TW" sz="1000" dirty="0"/>
              <a:t> = (100.0 / 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) + (10.0 /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+ (0.3 *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) + (0.2 * 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)</a:t>
            </a:r>
          </a:p>
          <a:p>
            <a:r>
              <a:rPr lang="en-US" altLang="zh-TW" sz="1000" dirty="0"/>
              <a:t>        </a:t>
            </a:r>
          </a:p>
          <a:p>
            <a:r>
              <a:rPr lang="en-US" altLang="zh-TW" sz="1000" dirty="0"/>
              <a:t># 2. </a:t>
            </a:r>
            <a:r>
              <a:rPr lang="zh-TW" altLang="en-US" sz="1000" dirty="0"/>
              <a:t>碰撞與不平穩風險 </a:t>
            </a:r>
            <a:r>
              <a:rPr lang="en-US" altLang="zh-TW" sz="1000" dirty="0"/>
              <a:t>Risk: </a:t>
            </a:r>
            <a:r>
              <a:rPr lang="zh-TW" altLang="en-US" sz="1000" dirty="0"/>
              <a:t>速度與加速度越大風險越高；安全權重與 </a:t>
            </a:r>
            <a:r>
              <a:rPr lang="en-US" altLang="zh-TW" sz="1000" dirty="0"/>
              <a:t>MPC </a:t>
            </a:r>
            <a:r>
              <a:rPr lang="zh-TW" altLang="en-US" sz="1000" dirty="0"/>
              <a:t>比值越大越平穩</a:t>
            </a:r>
            <a:r>
              <a:rPr lang="en-US" altLang="zh-TW" sz="1000" dirty="0"/>
              <a:t>(</a:t>
            </a:r>
            <a:r>
              <a:rPr lang="zh-TW" altLang="en-US" sz="1000" dirty="0"/>
              <a:t>風險低</a:t>
            </a:r>
            <a:r>
              <a:rPr lang="en-US" altLang="zh-TW" sz="1000" dirty="0"/>
              <a:t>)</a:t>
            </a:r>
          </a:p>
          <a:p>
            <a:r>
              <a:rPr lang="en-US" altLang="zh-TW" sz="1000" dirty="0"/>
              <a:t>        </a:t>
            </a:r>
            <a:r>
              <a:rPr lang="en-US" altLang="zh-TW" sz="1000" dirty="0" err="1"/>
              <a:t>collision_risk</a:t>
            </a:r>
            <a:r>
              <a:rPr lang="en-US" altLang="zh-TW" sz="1000" dirty="0"/>
              <a:t> = (0.15 * (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 ** 2)) + (0.5 *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+ (5.0 /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) + (100.0 / </a:t>
            </a:r>
            <a:r>
              <a:rPr lang="en-US" altLang="zh-TW" sz="1000" dirty="0" err="1"/>
              <a:t>q_r_ratio</a:t>
            </a:r>
            <a:r>
              <a:rPr lang="en-US" altLang="zh-TW" sz="1000" dirty="0"/>
              <a:t>)</a:t>
            </a:r>
            <a:endParaRPr lang="zh-TW" altLang="en-US" sz="10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D492719-2050-F600-210C-0B3472821D5D}"/>
              </a:ext>
            </a:extLst>
          </p:cNvPr>
          <p:cNvSpPr txBox="1"/>
          <p:nvPr/>
        </p:nvSpPr>
        <p:spPr>
          <a:xfrm>
            <a:off x="6580336" y="912357"/>
            <a:ext cx="5331755" cy="17851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# === 【GA </a:t>
            </a:r>
            <a:r>
              <a:rPr lang="zh-TW" altLang="en-US" sz="1000" dirty="0"/>
              <a:t>參數可調區域</a:t>
            </a:r>
            <a:r>
              <a:rPr lang="en-US" altLang="zh-TW" sz="1000" dirty="0"/>
              <a:t>】 ===</a:t>
            </a:r>
          </a:p>
          <a:p>
            <a:r>
              <a:rPr lang="en-US" altLang="zh-TW" sz="1000" dirty="0"/>
              <a:t>POP_SIZE = 60          # </a:t>
            </a:r>
            <a:r>
              <a:rPr lang="zh-TW" altLang="en-US" sz="1000" dirty="0"/>
              <a:t>族群大小 </a:t>
            </a:r>
            <a:r>
              <a:rPr lang="en-US" altLang="zh-TW" sz="1000" dirty="0"/>
              <a:t>(Population Size)</a:t>
            </a:r>
          </a:p>
          <a:p>
            <a:r>
              <a:rPr lang="en-US" altLang="zh-TW" sz="1000" dirty="0"/>
              <a:t>N_GEN = 50             # </a:t>
            </a:r>
            <a:r>
              <a:rPr lang="zh-TW" altLang="en-US" sz="1000" dirty="0"/>
              <a:t>演化代數 </a:t>
            </a:r>
            <a:r>
              <a:rPr lang="en-US" altLang="zh-TW" sz="1000" dirty="0"/>
              <a:t>(Generations)</a:t>
            </a:r>
          </a:p>
          <a:p>
            <a:endParaRPr lang="en-US" altLang="zh-TW" sz="1000" dirty="0"/>
          </a:p>
          <a:p>
            <a:r>
              <a:rPr lang="en-US" altLang="zh-TW" sz="1000" dirty="0"/>
              <a:t># SBX </a:t>
            </a:r>
            <a:r>
              <a:rPr lang="zh-TW" altLang="en-US" sz="1000" dirty="0"/>
              <a:t>交叉算子設定 </a:t>
            </a:r>
            <a:r>
              <a:rPr lang="en-US" altLang="zh-TW" sz="1000" dirty="0"/>
              <a:t>(Simulated Binary Crossover)</a:t>
            </a:r>
          </a:p>
          <a:p>
            <a:r>
              <a:rPr lang="en-US" altLang="zh-TW" sz="1000" dirty="0"/>
              <a:t>CROSSOVER_PROB = 0.9   # </a:t>
            </a:r>
            <a:r>
              <a:rPr lang="zh-TW" altLang="en-US" sz="1000" dirty="0"/>
              <a:t>交叉機率 </a:t>
            </a:r>
            <a:r>
              <a:rPr lang="en-US" altLang="zh-TW" sz="1000" dirty="0"/>
              <a:t>(</a:t>
            </a:r>
            <a:r>
              <a:rPr lang="zh-TW" altLang="en-US" sz="1000" dirty="0"/>
              <a:t>預設 </a:t>
            </a:r>
            <a:r>
              <a:rPr lang="en-US" altLang="zh-TW" sz="1000" dirty="0"/>
              <a:t>0.9)</a:t>
            </a:r>
          </a:p>
          <a:p>
            <a:r>
              <a:rPr lang="en-US" altLang="zh-TW" sz="1000" b="1" dirty="0">
                <a:solidFill>
                  <a:srgbClr val="00B0F0"/>
                </a:solidFill>
              </a:rPr>
              <a:t>ETA_C = 0.00001           # </a:t>
            </a:r>
            <a:r>
              <a:rPr lang="zh-TW" altLang="en-US" sz="1000" b="1" dirty="0">
                <a:solidFill>
                  <a:srgbClr val="00B0F0"/>
                </a:solidFill>
              </a:rPr>
              <a:t>交叉分佈指數 </a:t>
            </a:r>
            <a:r>
              <a:rPr lang="el-GR" altLang="zh-TW" sz="1000" b="1" dirty="0">
                <a:solidFill>
                  <a:srgbClr val="00B0F0"/>
                </a:solidFill>
              </a:rPr>
              <a:t>η_</a:t>
            </a:r>
            <a:r>
              <a:rPr lang="en-US" altLang="zh-TW" sz="1000" b="1" dirty="0">
                <a:solidFill>
                  <a:srgbClr val="00B0F0"/>
                </a:solidFill>
              </a:rPr>
              <a:t>c (</a:t>
            </a:r>
            <a:r>
              <a:rPr lang="zh-TW" altLang="en-US" sz="1000" b="1" dirty="0">
                <a:solidFill>
                  <a:srgbClr val="00B0F0"/>
                </a:solidFill>
              </a:rPr>
              <a:t>值越大搜尋越保守，值越小搜尋越激進</a:t>
            </a:r>
            <a:r>
              <a:rPr lang="en-US" altLang="zh-TW" sz="1000" b="1" dirty="0">
                <a:solidFill>
                  <a:srgbClr val="00B0F0"/>
                </a:solidFill>
              </a:rPr>
              <a:t>)</a:t>
            </a:r>
          </a:p>
          <a:p>
            <a:endParaRPr lang="en-US" altLang="zh-TW" sz="1000" dirty="0"/>
          </a:p>
          <a:p>
            <a:r>
              <a:rPr lang="en-US" altLang="zh-TW" sz="1000" dirty="0"/>
              <a:t># </a:t>
            </a:r>
            <a:r>
              <a:rPr lang="zh-TW" altLang="en-US" sz="1000" dirty="0"/>
              <a:t>多項式突變算子設定 </a:t>
            </a:r>
            <a:r>
              <a:rPr lang="en-US" altLang="zh-TW" sz="1000" dirty="0"/>
              <a:t>(Polynomial Mutation)</a:t>
            </a:r>
          </a:p>
          <a:p>
            <a:r>
              <a:rPr lang="en-US" altLang="zh-TW" sz="1000" dirty="0"/>
              <a:t>MUTATION_PROB = 0.2    # </a:t>
            </a:r>
            <a:r>
              <a:rPr lang="zh-TW" altLang="en-US" sz="1000" dirty="0"/>
              <a:t>突變機率 </a:t>
            </a:r>
            <a:r>
              <a:rPr lang="en-US" altLang="zh-TW" sz="1000" dirty="0"/>
              <a:t>(</a:t>
            </a:r>
            <a:r>
              <a:rPr lang="zh-TW" altLang="en-US" sz="1000" dirty="0"/>
              <a:t>建議設為 </a:t>
            </a:r>
            <a:r>
              <a:rPr lang="en-US" altLang="zh-TW" sz="1000" dirty="0"/>
              <a:t>1/</a:t>
            </a:r>
            <a:r>
              <a:rPr lang="en-US" altLang="zh-TW" sz="1000" dirty="0" err="1"/>
              <a:t>n_var</a:t>
            </a:r>
            <a:r>
              <a:rPr lang="en-US" altLang="zh-TW" sz="1000" dirty="0"/>
              <a:t> = 1/5 = 0.2)</a:t>
            </a:r>
          </a:p>
          <a:p>
            <a:r>
              <a:rPr lang="en-US" altLang="zh-TW" sz="1000" dirty="0"/>
              <a:t>ETA_M = 20.0           # </a:t>
            </a:r>
            <a:r>
              <a:rPr lang="zh-TW" altLang="en-US" sz="1000" dirty="0"/>
              <a:t>突變分佈指數 </a:t>
            </a:r>
            <a:r>
              <a:rPr lang="el-GR" altLang="zh-TW" sz="1000" dirty="0"/>
              <a:t>η_</a:t>
            </a:r>
            <a:r>
              <a:rPr lang="en-US" altLang="zh-TW" sz="1000" dirty="0"/>
              <a:t>m (</a:t>
            </a:r>
            <a:r>
              <a:rPr lang="zh-TW" altLang="en-US" sz="1000" dirty="0"/>
              <a:t>值越大擾動幅度越小</a:t>
            </a:r>
            <a:r>
              <a:rPr lang="en-US" altLang="zh-TW" sz="1000" dirty="0"/>
              <a:t>/</a:t>
            </a:r>
            <a:r>
              <a:rPr lang="zh-TW" altLang="en-US" sz="1000" dirty="0"/>
              <a:t>精細，值越小擾動越劇烈</a:t>
            </a:r>
            <a:r>
              <a:rPr lang="en-US" altLang="zh-TW" sz="1000" dirty="0"/>
              <a:t>)</a:t>
            </a:r>
            <a:endParaRPr lang="zh-TW" altLang="en-US" sz="10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4E1D0484-65B3-64A5-4567-BC878120F22D}"/>
              </a:ext>
            </a:extLst>
          </p:cNvPr>
          <p:cNvSpPr txBox="1"/>
          <p:nvPr/>
        </p:nvSpPr>
        <p:spPr>
          <a:xfrm>
            <a:off x="6580336" y="2962586"/>
            <a:ext cx="5331755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=== 5 </a:t>
            </a:r>
            <a:r>
              <a:rPr lang="zh-TW" altLang="en-US" sz="1000" dirty="0"/>
              <a:t>維 </a:t>
            </a:r>
            <a:r>
              <a:rPr lang="en-US" altLang="zh-TW" sz="1000" dirty="0"/>
              <a:t>AMR </a:t>
            </a:r>
            <a:r>
              <a:rPr lang="zh-TW" altLang="en-US" sz="1000" dirty="0"/>
              <a:t>超參數 </a:t>
            </a:r>
            <a:r>
              <a:rPr lang="en-US" altLang="zh-TW" sz="1000" dirty="0"/>
              <a:t>- </a:t>
            </a:r>
            <a:r>
              <a:rPr lang="zh-TW" altLang="en-US" sz="1000" dirty="0"/>
              <a:t>帕累托最優解 </a:t>
            </a:r>
            <a:r>
              <a:rPr lang="en-US" altLang="zh-TW" sz="1000" dirty="0"/>
              <a:t>(</a:t>
            </a:r>
            <a:r>
              <a:rPr lang="zh-TW" altLang="en-US" sz="1000" dirty="0"/>
              <a:t>部分</a:t>
            </a:r>
            <a:r>
              <a:rPr lang="en-US" altLang="zh-TW" sz="1000" dirty="0"/>
              <a:t>) ===</a:t>
            </a:r>
          </a:p>
          <a:p>
            <a:r>
              <a:rPr lang="en-US" altLang="zh-TW" sz="1000" dirty="0"/>
              <a:t>  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 | 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q_r_ratio</a:t>
            </a:r>
            <a:r>
              <a:rPr lang="en-US" altLang="zh-TW" sz="1000" dirty="0"/>
              <a:t> || Exec Time | Risk Score</a:t>
            </a:r>
          </a:p>
          <a:p>
            <a:r>
              <a:rPr lang="en-US" altLang="zh-TW" sz="1000" dirty="0"/>
              <a:t>---------------------------------------------------------------------------</a:t>
            </a:r>
          </a:p>
          <a:p>
            <a:r>
              <a:rPr lang="en-US" altLang="zh-TW" sz="1000" dirty="0"/>
              <a:t>   3.00 |   1.99 |     0.87 |    0.54 |     792.7 ||     38.73 |       8.25</a:t>
            </a:r>
          </a:p>
          <a:p>
            <a:r>
              <a:rPr lang="en-US" altLang="zh-TW" sz="1000" dirty="0"/>
              <a:t>   0.51 |   0.11 |     9.98 |    3.88 |     988.6 ||    295.01 |       0.69</a:t>
            </a:r>
          </a:p>
          <a:p>
            <a:r>
              <a:rPr lang="en-US" altLang="zh-TW" sz="1000" dirty="0"/>
              <a:t>   3.00 |   1.99 |     1.00 |    0.61 |     823.4 ||     38.81 |       7.44</a:t>
            </a:r>
          </a:p>
          <a:p>
            <a:r>
              <a:rPr lang="en-US" altLang="zh-TW" sz="1000" dirty="0"/>
              <a:t>   3.00 |   1.99 |     2.21 |    0.54 |     830.4 ||     39.14 |       4.73</a:t>
            </a:r>
          </a:p>
          <a:p>
            <a:r>
              <a:rPr lang="en-US" altLang="zh-TW" sz="1000" dirty="0"/>
              <a:t>   3.00 |   1.99 |     0.87 |    0.61 |     891.6 ||     38.77 |       8.23</a:t>
            </a:r>
          </a:p>
          <a:p>
            <a:endParaRPr lang="en-US" altLang="zh-TW" sz="1000" dirty="0"/>
          </a:p>
          <a:p>
            <a:r>
              <a:rPr lang="en-US" altLang="zh-TW" sz="1000" dirty="0"/>
              <a:t>==================================================</a:t>
            </a:r>
          </a:p>
          <a:p>
            <a:r>
              <a:rPr lang="en-US" altLang="zh-TW" sz="1000" dirty="0"/>
              <a:t>★【</a:t>
            </a:r>
            <a:r>
              <a:rPr lang="zh-TW" altLang="en-US" sz="1000" dirty="0"/>
              <a:t>膝點法計算結果 </a:t>
            </a:r>
            <a:r>
              <a:rPr lang="en-US" altLang="zh-TW" sz="1000" dirty="0"/>
              <a:t>- </a:t>
            </a:r>
            <a:r>
              <a:rPr lang="zh-TW" altLang="en-US" sz="1000" dirty="0"/>
              <a:t>最佳折衷方案 </a:t>
            </a:r>
            <a:r>
              <a:rPr lang="en-US" altLang="zh-TW" sz="1000" dirty="0"/>
              <a:t>(Knee Point / Best Trade-off)】★</a:t>
            </a:r>
          </a:p>
          <a:p>
            <a:r>
              <a:rPr lang="en-US" altLang="zh-TW" sz="1000" dirty="0"/>
              <a:t>==================================================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最高車速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)     : 2.10 m/s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最大加速度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  : 0.68 m/s²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安全距離權重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w_safe</a:t>
            </a:r>
            <a:r>
              <a:rPr lang="en-US" altLang="zh-TW" sz="1000" dirty="0"/>
              <a:t>): 9.86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轉向靈敏度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)  : 1.52</a:t>
            </a:r>
          </a:p>
          <a:p>
            <a:r>
              <a:rPr lang="en-US" altLang="zh-TW" sz="1000" dirty="0"/>
              <a:t> ▸ MPC Q/R </a:t>
            </a:r>
            <a:r>
              <a:rPr lang="zh-TW" altLang="en-US" sz="1000" dirty="0"/>
              <a:t>比值         </a:t>
            </a:r>
            <a:r>
              <a:rPr lang="en-US" altLang="zh-TW" sz="1000" dirty="0"/>
              <a:t>: 963.9</a:t>
            </a:r>
          </a:p>
          <a:p>
            <a:r>
              <a:rPr lang="en-US" altLang="zh-TW" sz="1000" dirty="0"/>
              <a:t>---------------------------------------------</a:t>
            </a:r>
          </a:p>
          <a:p>
            <a:r>
              <a:rPr lang="en-US" altLang="zh-TW" sz="1000" dirty="0"/>
              <a:t> </a:t>
            </a:r>
            <a:r>
              <a:rPr lang="zh-TW" altLang="en-US" sz="1000" dirty="0"/>
              <a:t>🎯 執行時間 </a:t>
            </a:r>
            <a:r>
              <a:rPr lang="en-US" altLang="zh-TW" sz="1000" dirty="0"/>
              <a:t>(Exec Time) : 65.62 </a:t>
            </a:r>
            <a:r>
              <a:rPr lang="zh-TW" altLang="en-US" sz="1000" dirty="0"/>
              <a:t>秒</a:t>
            </a:r>
          </a:p>
          <a:p>
            <a:r>
              <a:rPr lang="zh-TW" altLang="en-US" sz="1000" dirty="0"/>
              <a:t> 🎯 碰撞風險 </a:t>
            </a:r>
            <a:r>
              <a:rPr lang="en-US" altLang="zh-TW" sz="1000" dirty="0"/>
              <a:t>(Risk Score): 1.61</a:t>
            </a:r>
          </a:p>
          <a:p>
            <a:r>
              <a:rPr lang="en-US" altLang="zh-TW" sz="1000" dirty="0"/>
              <a:t>==================================================</a:t>
            </a:r>
            <a:endParaRPr lang="zh-TW" altLang="en-US" sz="10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5F6A01F-FDF3-51F3-C0B6-DE50B8386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634" y="2261419"/>
            <a:ext cx="5987007" cy="4332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516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6D17B-065A-D28D-7BCE-F09703A07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967E8E-A3DE-A683-A5DF-E255350EA7E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0AB9513D-30F8-EE69-72E1-99A23572E45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256FBF76-4227-3807-CDAA-360922D6555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lvl="0">
              <a:defRPr/>
            </a:pPr>
            <a:r>
              <a:rPr lang="zh-TW" altLang="en-US" sz="2900" dirty="0">
                <a:solidFill>
                  <a:srgbClr val="FFFFFF"/>
                </a:solidFill>
              </a:rPr>
              <a:t>帕累托前緣曲線結果與最佳化超參數結果呈現 </a:t>
            </a:r>
            <a:r>
              <a:rPr lang="en-US" altLang="zh-TW" sz="2900" dirty="0">
                <a:solidFill>
                  <a:srgbClr val="FFFFFF"/>
                </a:solidFill>
              </a:rPr>
              <a:t>(6)</a:t>
            </a: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EF6048E-F674-C004-7D8F-7CF1EA9E6F70}"/>
              </a:ext>
            </a:extLst>
          </p:cNvPr>
          <p:cNvSpPr txBox="1"/>
          <p:nvPr/>
        </p:nvSpPr>
        <p:spPr>
          <a:xfrm>
            <a:off x="349358" y="699083"/>
            <a:ext cx="5962749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# -----------------------------------------------------------</a:t>
            </a:r>
          </a:p>
          <a:p>
            <a:r>
              <a:rPr lang="en-US" altLang="zh-TW" sz="1000" dirty="0"/>
              <a:t># </a:t>
            </a:r>
            <a:r>
              <a:rPr lang="zh-TW" altLang="en-US" sz="1000" dirty="0"/>
              <a:t>模擬多維度 </a:t>
            </a:r>
            <a:r>
              <a:rPr lang="en-US" altLang="zh-TW" sz="1000" dirty="0"/>
              <a:t>AMR </a:t>
            </a:r>
            <a:r>
              <a:rPr lang="zh-TW" altLang="en-US" sz="1000" dirty="0"/>
              <a:t>黑盒評價方程 </a:t>
            </a:r>
            <a:r>
              <a:rPr lang="en-US" altLang="zh-TW" sz="1000" dirty="0"/>
              <a:t>(</a:t>
            </a:r>
            <a:r>
              <a:rPr lang="zh-TW" altLang="en-US" sz="1000" dirty="0"/>
              <a:t>綜合考慮物理動態與控制</a:t>
            </a:r>
            <a:r>
              <a:rPr lang="en-US" altLang="zh-TW" sz="1000" dirty="0"/>
              <a:t>):</a:t>
            </a:r>
          </a:p>
          <a:p>
            <a:r>
              <a:rPr lang="en-US" altLang="zh-TW" sz="1000" dirty="0"/>
              <a:t># -----------------------------------------------------------</a:t>
            </a:r>
          </a:p>
          <a:p>
            <a:r>
              <a:rPr lang="en-US" altLang="zh-TW" sz="1000" dirty="0"/>
              <a:t># 1. </a:t>
            </a:r>
            <a:r>
              <a:rPr lang="zh-TW" altLang="en-US" sz="1000" dirty="0"/>
              <a:t>執行時間 </a:t>
            </a:r>
            <a:r>
              <a:rPr lang="en-US" altLang="zh-TW" sz="1000" dirty="0"/>
              <a:t>Time: </a:t>
            </a:r>
            <a:r>
              <a:rPr lang="zh-TW" altLang="en-US" sz="1000" dirty="0"/>
              <a:t>受最高速度限制，但加速度大降速快；轉向太靈敏可能震盪耗時</a:t>
            </a:r>
          </a:p>
          <a:p>
            <a:r>
              <a:rPr lang="zh-TW" altLang="en-US" sz="1000" dirty="0"/>
              <a:t>        </a:t>
            </a:r>
            <a:r>
              <a:rPr lang="en-US" altLang="zh-TW" sz="1000" dirty="0" err="1"/>
              <a:t>execution_time</a:t>
            </a:r>
            <a:r>
              <a:rPr lang="en-US" altLang="zh-TW" sz="1000" dirty="0"/>
              <a:t> = (100.0 / 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) + (10.0 /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+ (0.3 *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) + (0.2 * 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)</a:t>
            </a:r>
          </a:p>
          <a:p>
            <a:r>
              <a:rPr lang="en-US" altLang="zh-TW" sz="1000" dirty="0"/>
              <a:t>        </a:t>
            </a:r>
          </a:p>
          <a:p>
            <a:r>
              <a:rPr lang="en-US" altLang="zh-TW" sz="1000" dirty="0"/>
              <a:t># 2. </a:t>
            </a:r>
            <a:r>
              <a:rPr lang="zh-TW" altLang="en-US" sz="1000" dirty="0"/>
              <a:t>碰撞與不平穩風險 </a:t>
            </a:r>
            <a:r>
              <a:rPr lang="en-US" altLang="zh-TW" sz="1000" dirty="0"/>
              <a:t>Risk: </a:t>
            </a:r>
            <a:r>
              <a:rPr lang="zh-TW" altLang="en-US" sz="1000" dirty="0"/>
              <a:t>速度與加速度越大風險越高；安全權重與 </a:t>
            </a:r>
            <a:r>
              <a:rPr lang="en-US" altLang="zh-TW" sz="1000" dirty="0"/>
              <a:t>MPC </a:t>
            </a:r>
            <a:r>
              <a:rPr lang="zh-TW" altLang="en-US" sz="1000" dirty="0"/>
              <a:t>比值越大越平穩</a:t>
            </a:r>
            <a:r>
              <a:rPr lang="en-US" altLang="zh-TW" sz="1000" dirty="0"/>
              <a:t>(</a:t>
            </a:r>
            <a:r>
              <a:rPr lang="zh-TW" altLang="en-US" sz="1000" dirty="0"/>
              <a:t>風險低</a:t>
            </a:r>
            <a:r>
              <a:rPr lang="en-US" altLang="zh-TW" sz="1000" dirty="0"/>
              <a:t>)</a:t>
            </a:r>
          </a:p>
          <a:p>
            <a:r>
              <a:rPr lang="en-US" altLang="zh-TW" sz="1000" dirty="0"/>
              <a:t>        </a:t>
            </a:r>
            <a:r>
              <a:rPr lang="en-US" altLang="zh-TW" sz="1000" dirty="0" err="1"/>
              <a:t>collision_risk</a:t>
            </a:r>
            <a:r>
              <a:rPr lang="en-US" altLang="zh-TW" sz="1000" dirty="0"/>
              <a:t> = (0.15 * (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 ** 2)) + (0.5 *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+ (5.0 /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) + (100.0 / </a:t>
            </a:r>
            <a:r>
              <a:rPr lang="en-US" altLang="zh-TW" sz="1000" dirty="0" err="1"/>
              <a:t>q_r_ratio</a:t>
            </a:r>
            <a:r>
              <a:rPr lang="en-US" altLang="zh-TW" sz="1000" dirty="0"/>
              <a:t>)</a:t>
            </a:r>
            <a:endParaRPr lang="zh-TW" altLang="en-US" sz="10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4ED70CE-8F61-8C63-95EA-7B3D8957F599}"/>
              </a:ext>
            </a:extLst>
          </p:cNvPr>
          <p:cNvSpPr txBox="1"/>
          <p:nvPr/>
        </p:nvSpPr>
        <p:spPr>
          <a:xfrm>
            <a:off x="6580336" y="912357"/>
            <a:ext cx="5457335" cy="17851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# === 【GA </a:t>
            </a:r>
            <a:r>
              <a:rPr lang="zh-TW" altLang="en-US" sz="1000" dirty="0"/>
              <a:t>參數可調區域</a:t>
            </a:r>
            <a:r>
              <a:rPr lang="en-US" altLang="zh-TW" sz="1000" dirty="0"/>
              <a:t>】 ===</a:t>
            </a:r>
          </a:p>
          <a:p>
            <a:r>
              <a:rPr lang="en-US" altLang="zh-TW" sz="1000" dirty="0"/>
              <a:t>POP_SIZE = 60          # </a:t>
            </a:r>
            <a:r>
              <a:rPr lang="zh-TW" altLang="en-US" sz="1000" dirty="0"/>
              <a:t>族群大小 </a:t>
            </a:r>
            <a:r>
              <a:rPr lang="en-US" altLang="zh-TW" sz="1000" dirty="0"/>
              <a:t>(Population Size)</a:t>
            </a:r>
          </a:p>
          <a:p>
            <a:r>
              <a:rPr lang="en-US" altLang="zh-TW" sz="1000" dirty="0"/>
              <a:t>N_GEN = 50             # </a:t>
            </a:r>
            <a:r>
              <a:rPr lang="zh-TW" altLang="en-US" sz="1000" dirty="0"/>
              <a:t>演化代數 </a:t>
            </a:r>
            <a:r>
              <a:rPr lang="en-US" altLang="zh-TW" sz="1000" dirty="0"/>
              <a:t>(Generations)</a:t>
            </a:r>
          </a:p>
          <a:p>
            <a:endParaRPr lang="en-US" altLang="zh-TW" sz="1000" dirty="0"/>
          </a:p>
          <a:p>
            <a:r>
              <a:rPr lang="en-US" altLang="zh-TW" sz="1000" dirty="0"/>
              <a:t># SBX </a:t>
            </a:r>
            <a:r>
              <a:rPr lang="zh-TW" altLang="en-US" sz="1000" dirty="0"/>
              <a:t>交叉算子設定 </a:t>
            </a:r>
            <a:r>
              <a:rPr lang="en-US" altLang="zh-TW" sz="1000" dirty="0"/>
              <a:t>(Simulated Binary Crossover)</a:t>
            </a:r>
          </a:p>
          <a:p>
            <a:r>
              <a:rPr lang="en-US" altLang="zh-TW" sz="1000" dirty="0"/>
              <a:t>CROSSOVER_PROB = 0.9   # </a:t>
            </a:r>
            <a:r>
              <a:rPr lang="zh-TW" altLang="en-US" sz="1000" dirty="0"/>
              <a:t>交叉機率 </a:t>
            </a:r>
            <a:r>
              <a:rPr lang="en-US" altLang="zh-TW" sz="1000" dirty="0"/>
              <a:t>(</a:t>
            </a:r>
            <a:r>
              <a:rPr lang="zh-TW" altLang="en-US" sz="1000" dirty="0"/>
              <a:t>預設 </a:t>
            </a:r>
            <a:r>
              <a:rPr lang="en-US" altLang="zh-TW" sz="1000" dirty="0"/>
              <a:t>0.9)</a:t>
            </a:r>
          </a:p>
          <a:p>
            <a:r>
              <a:rPr lang="en-US" altLang="zh-TW" sz="1000" dirty="0"/>
              <a:t>ETA_C = 15.0           # </a:t>
            </a:r>
            <a:r>
              <a:rPr lang="zh-TW" altLang="en-US" sz="1000" dirty="0"/>
              <a:t>交叉分佈指數 </a:t>
            </a:r>
            <a:r>
              <a:rPr lang="el-GR" altLang="zh-TW" sz="1000" dirty="0"/>
              <a:t>η_</a:t>
            </a:r>
            <a:r>
              <a:rPr lang="en-US" altLang="zh-TW" sz="1000" dirty="0"/>
              <a:t>c (</a:t>
            </a:r>
            <a:r>
              <a:rPr lang="zh-TW" altLang="en-US" sz="1000" dirty="0"/>
              <a:t>值越大搜尋越保守，值越小搜尋越激進</a:t>
            </a:r>
            <a:r>
              <a:rPr lang="en-US" altLang="zh-TW" sz="1000" dirty="0"/>
              <a:t>)</a:t>
            </a:r>
          </a:p>
          <a:p>
            <a:endParaRPr lang="en-US" altLang="zh-TW" sz="1000" dirty="0"/>
          </a:p>
          <a:p>
            <a:r>
              <a:rPr lang="en-US" altLang="zh-TW" sz="1000" dirty="0"/>
              <a:t># </a:t>
            </a:r>
            <a:r>
              <a:rPr lang="zh-TW" altLang="en-US" sz="1000" dirty="0"/>
              <a:t>多項式突變算子設定 </a:t>
            </a:r>
            <a:r>
              <a:rPr lang="en-US" altLang="zh-TW" sz="1000" dirty="0"/>
              <a:t>(Polynomial Mutation)</a:t>
            </a:r>
          </a:p>
          <a:p>
            <a:r>
              <a:rPr lang="en-US" altLang="zh-TW" sz="1000" dirty="0"/>
              <a:t>MUTATION_PROB = 0.2    # </a:t>
            </a:r>
            <a:r>
              <a:rPr lang="zh-TW" altLang="en-US" sz="1000" dirty="0"/>
              <a:t>突變機率 </a:t>
            </a:r>
            <a:r>
              <a:rPr lang="en-US" altLang="zh-TW" sz="1000" dirty="0"/>
              <a:t>(</a:t>
            </a:r>
            <a:r>
              <a:rPr lang="zh-TW" altLang="en-US" sz="1000" dirty="0"/>
              <a:t>建議設為 </a:t>
            </a:r>
            <a:r>
              <a:rPr lang="en-US" altLang="zh-TW" sz="1000" dirty="0"/>
              <a:t>1/</a:t>
            </a:r>
            <a:r>
              <a:rPr lang="en-US" altLang="zh-TW" sz="1000" dirty="0" err="1"/>
              <a:t>n_var</a:t>
            </a:r>
            <a:r>
              <a:rPr lang="en-US" altLang="zh-TW" sz="1000" dirty="0"/>
              <a:t> = 1/5 = 0.2)</a:t>
            </a:r>
          </a:p>
          <a:p>
            <a:r>
              <a:rPr lang="en-US" altLang="zh-TW" sz="1000" b="1" dirty="0">
                <a:solidFill>
                  <a:srgbClr val="00B0F0"/>
                </a:solidFill>
              </a:rPr>
              <a:t>ETA_M = 1000.0           # </a:t>
            </a:r>
            <a:r>
              <a:rPr lang="zh-TW" altLang="en-US" sz="1000" b="1" dirty="0">
                <a:solidFill>
                  <a:srgbClr val="00B0F0"/>
                </a:solidFill>
              </a:rPr>
              <a:t>突變分佈指數 </a:t>
            </a:r>
            <a:r>
              <a:rPr lang="el-GR" altLang="zh-TW" sz="1000" b="1" dirty="0">
                <a:solidFill>
                  <a:srgbClr val="00B0F0"/>
                </a:solidFill>
              </a:rPr>
              <a:t>η_</a:t>
            </a:r>
            <a:r>
              <a:rPr lang="en-US" altLang="zh-TW" sz="1000" b="1" dirty="0">
                <a:solidFill>
                  <a:srgbClr val="00B0F0"/>
                </a:solidFill>
              </a:rPr>
              <a:t>m (</a:t>
            </a:r>
            <a:r>
              <a:rPr lang="zh-TW" altLang="en-US" sz="1000" b="1" dirty="0">
                <a:solidFill>
                  <a:srgbClr val="00B0F0"/>
                </a:solidFill>
              </a:rPr>
              <a:t>值越大擾動幅度越小</a:t>
            </a:r>
            <a:r>
              <a:rPr lang="en-US" altLang="zh-TW" sz="1000" b="1" dirty="0">
                <a:solidFill>
                  <a:srgbClr val="00B0F0"/>
                </a:solidFill>
              </a:rPr>
              <a:t>/</a:t>
            </a:r>
            <a:r>
              <a:rPr lang="zh-TW" altLang="en-US" sz="1000" b="1" dirty="0">
                <a:solidFill>
                  <a:srgbClr val="00B0F0"/>
                </a:solidFill>
              </a:rPr>
              <a:t>精細，值越小擾動越劇烈</a:t>
            </a:r>
            <a:r>
              <a:rPr lang="en-US" altLang="zh-TW" sz="1000" b="1" dirty="0">
                <a:solidFill>
                  <a:srgbClr val="00B0F0"/>
                </a:solidFill>
              </a:rPr>
              <a:t>)</a:t>
            </a:r>
            <a:endParaRPr lang="zh-TW" altLang="en-US" sz="1000" b="1" dirty="0">
              <a:solidFill>
                <a:srgbClr val="00B0F0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F32F479-B078-87BE-DB4D-98DC6C2B6454}"/>
              </a:ext>
            </a:extLst>
          </p:cNvPr>
          <p:cNvSpPr txBox="1"/>
          <p:nvPr/>
        </p:nvSpPr>
        <p:spPr>
          <a:xfrm>
            <a:off x="6580336" y="2962586"/>
            <a:ext cx="5457335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=== 5 </a:t>
            </a:r>
            <a:r>
              <a:rPr lang="zh-TW" altLang="en-US" sz="1000" dirty="0"/>
              <a:t>維 </a:t>
            </a:r>
            <a:r>
              <a:rPr lang="en-US" altLang="zh-TW" sz="1000" dirty="0"/>
              <a:t>AMR </a:t>
            </a:r>
            <a:r>
              <a:rPr lang="zh-TW" altLang="en-US" sz="1000" dirty="0"/>
              <a:t>超參數 </a:t>
            </a:r>
            <a:r>
              <a:rPr lang="en-US" altLang="zh-TW" sz="1000" dirty="0"/>
              <a:t>- </a:t>
            </a:r>
            <a:r>
              <a:rPr lang="zh-TW" altLang="en-US" sz="1000" dirty="0"/>
              <a:t>帕累托最優解 </a:t>
            </a:r>
            <a:r>
              <a:rPr lang="en-US" altLang="zh-TW" sz="1000" dirty="0"/>
              <a:t>(</a:t>
            </a:r>
            <a:r>
              <a:rPr lang="zh-TW" altLang="en-US" sz="1000" dirty="0"/>
              <a:t>部分</a:t>
            </a:r>
            <a:r>
              <a:rPr lang="en-US" altLang="zh-TW" sz="1000" dirty="0"/>
              <a:t>) ===</a:t>
            </a:r>
          </a:p>
          <a:p>
            <a:r>
              <a:rPr lang="en-US" altLang="zh-TW" sz="1000" dirty="0"/>
              <a:t>  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 | 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q_r_ratio</a:t>
            </a:r>
            <a:r>
              <a:rPr lang="en-US" altLang="zh-TW" sz="1000" dirty="0"/>
              <a:t> || Exec Time | Risk Score</a:t>
            </a:r>
          </a:p>
          <a:p>
            <a:r>
              <a:rPr lang="en-US" altLang="zh-TW" sz="1000" dirty="0"/>
              <a:t>---------------------------------------------------------------------------</a:t>
            </a:r>
          </a:p>
          <a:p>
            <a:r>
              <a:rPr lang="en-US" altLang="zh-TW" sz="1000" dirty="0"/>
              <a:t>   0.51 |   0.10 |     9.98 |    0.95 |     968.8 ||    296.74 |       0.69</a:t>
            </a:r>
          </a:p>
          <a:p>
            <a:r>
              <a:rPr lang="en-US" altLang="zh-TW" sz="1000" dirty="0"/>
              <a:t>   3.00 |   1.97 |     2.10 |    0.63 |     949.6 ||     39.18 |       4.82</a:t>
            </a:r>
          </a:p>
          <a:p>
            <a:r>
              <a:rPr lang="en-US" altLang="zh-TW" sz="1000" dirty="0"/>
              <a:t>   3.00 |   1.98 |     2.58 |    0.63 |     949.6 ||     39.29 |       4.38</a:t>
            </a:r>
          </a:p>
          <a:p>
            <a:r>
              <a:rPr lang="en-US" altLang="zh-TW" sz="1000" dirty="0"/>
              <a:t>   2.99 |   1.97 |     2.11 |    0.64 |     961.3 ||     39.25 |       4.80</a:t>
            </a:r>
          </a:p>
          <a:p>
            <a:r>
              <a:rPr lang="en-US" altLang="zh-TW" sz="1000" dirty="0"/>
              <a:t>   2.43 |   0.70 |     9.95 |    0.61 |     969.1 ||     58.58 |       1.84</a:t>
            </a:r>
          </a:p>
          <a:p>
            <a:endParaRPr lang="en-US" altLang="zh-TW" sz="1000" dirty="0"/>
          </a:p>
          <a:p>
            <a:r>
              <a:rPr lang="en-US" altLang="zh-TW" sz="1000" dirty="0"/>
              <a:t>===================================================</a:t>
            </a:r>
          </a:p>
          <a:p>
            <a:r>
              <a:rPr lang="en-US" altLang="zh-TW" sz="1000" dirty="0"/>
              <a:t>★【</a:t>
            </a:r>
            <a:r>
              <a:rPr lang="zh-TW" altLang="en-US" sz="1000" dirty="0"/>
              <a:t>膝點法計算結果 </a:t>
            </a:r>
            <a:r>
              <a:rPr lang="en-US" altLang="zh-TW" sz="1000" dirty="0"/>
              <a:t>- </a:t>
            </a:r>
            <a:r>
              <a:rPr lang="zh-TW" altLang="en-US" sz="1000" dirty="0"/>
              <a:t>最佳折衷方案 </a:t>
            </a:r>
            <a:r>
              <a:rPr lang="en-US" altLang="zh-TW" sz="1000" dirty="0"/>
              <a:t>(Knee Point / Best Trade-off)】★</a:t>
            </a:r>
          </a:p>
          <a:p>
            <a:r>
              <a:rPr lang="en-US" altLang="zh-TW" sz="1000" dirty="0"/>
              <a:t>===================================================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最高車速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)     : 1.63 m/s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最大加速度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  : 0.74 m/s²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安全距離權重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w_safe</a:t>
            </a:r>
            <a:r>
              <a:rPr lang="en-US" altLang="zh-TW" sz="1000" dirty="0"/>
              <a:t>): 10.00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轉向靈敏度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)  : 0.52</a:t>
            </a:r>
          </a:p>
          <a:p>
            <a:r>
              <a:rPr lang="en-US" altLang="zh-TW" sz="1000" dirty="0"/>
              <a:t> ▸ MPC Q/R </a:t>
            </a:r>
            <a:r>
              <a:rPr lang="zh-TW" altLang="en-US" sz="1000" dirty="0"/>
              <a:t>比值         </a:t>
            </a:r>
            <a:r>
              <a:rPr lang="en-US" altLang="zh-TW" sz="1000" dirty="0"/>
              <a:t>: 950.5</a:t>
            </a:r>
          </a:p>
          <a:p>
            <a:r>
              <a:rPr lang="en-US" altLang="zh-TW" sz="1000" dirty="0"/>
              <a:t>---------------------------------------------</a:t>
            </a:r>
          </a:p>
          <a:p>
            <a:r>
              <a:rPr lang="en-US" altLang="zh-TW" sz="1000" dirty="0"/>
              <a:t> </a:t>
            </a:r>
            <a:r>
              <a:rPr lang="zh-TW" altLang="en-US" sz="1000" dirty="0"/>
              <a:t>🎯 執行時間 </a:t>
            </a:r>
            <a:r>
              <a:rPr lang="en-US" altLang="zh-TW" sz="1000" dirty="0"/>
              <a:t>(Exec Time) : 77.92 </a:t>
            </a:r>
            <a:r>
              <a:rPr lang="zh-TW" altLang="en-US" sz="1000" dirty="0"/>
              <a:t>秒</a:t>
            </a:r>
          </a:p>
          <a:p>
            <a:r>
              <a:rPr lang="zh-TW" altLang="en-US" sz="1000" dirty="0"/>
              <a:t> 🎯 碰撞風險 </a:t>
            </a:r>
            <a:r>
              <a:rPr lang="en-US" altLang="zh-TW" sz="1000" dirty="0"/>
              <a:t>(Risk Score): 1.37</a:t>
            </a:r>
          </a:p>
          <a:p>
            <a:r>
              <a:rPr lang="en-US" altLang="zh-TW" sz="1000" dirty="0"/>
              <a:t>===================================================</a:t>
            </a:r>
            <a:endParaRPr lang="zh-TW" altLang="en-US" sz="1000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66F625F5-5852-E744-9E6C-14EED02B4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633" y="2261419"/>
            <a:ext cx="5920799" cy="4332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263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BA2AA-30C7-FF3D-2F33-06A2BC103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C6DD1E-EF71-851B-92B9-1CD9574356C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479E9A4E-68D8-BA69-24B8-168F98611AD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7744453F-BCBA-1FAD-399C-FEDC1CBEF45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lvl="0">
              <a:defRPr/>
            </a:pPr>
            <a:r>
              <a:rPr lang="zh-TW" altLang="en-US" sz="2900" dirty="0">
                <a:solidFill>
                  <a:srgbClr val="FFFFFF"/>
                </a:solidFill>
              </a:rPr>
              <a:t>帕累托前緣曲線結果與最佳化超參數結果呈現 </a:t>
            </a:r>
            <a:r>
              <a:rPr lang="en-US" altLang="zh-TW" sz="2900" dirty="0">
                <a:solidFill>
                  <a:srgbClr val="FFFFFF"/>
                </a:solidFill>
              </a:rPr>
              <a:t>(7)</a:t>
            </a: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03A2D17-F11A-384D-3A08-D381F8DD2C97}"/>
              </a:ext>
            </a:extLst>
          </p:cNvPr>
          <p:cNvSpPr txBox="1"/>
          <p:nvPr/>
        </p:nvSpPr>
        <p:spPr>
          <a:xfrm>
            <a:off x="349358" y="699083"/>
            <a:ext cx="5962749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# -----------------------------------------------------------</a:t>
            </a:r>
          </a:p>
          <a:p>
            <a:r>
              <a:rPr lang="en-US" altLang="zh-TW" sz="1000" dirty="0"/>
              <a:t># </a:t>
            </a:r>
            <a:r>
              <a:rPr lang="zh-TW" altLang="en-US" sz="1000" dirty="0"/>
              <a:t>模擬多維度 </a:t>
            </a:r>
            <a:r>
              <a:rPr lang="en-US" altLang="zh-TW" sz="1000" dirty="0"/>
              <a:t>AMR </a:t>
            </a:r>
            <a:r>
              <a:rPr lang="zh-TW" altLang="en-US" sz="1000" dirty="0"/>
              <a:t>黑盒評價方程 </a:t>
            </a:r>
            <a:r>
              <a:rPr lang="en-US" altLang="zh-TW" sz="1000" dirty="0"/>
              <a:t>(</a:t>
            </a:r>
            <a:r>
              <a:rPr lang="zh-TW" altLang="en-US" sz="1000" dirty="0"/>
              <a:t>綜合考慮物理動態與控制</a:t>
            </a:r>
            <a:r>
              <a:rPr lang="en-US" altLang="zh-TW" sz="1000" dirty="0"/>
              <a:t>):</a:t>
            </a:r>
          </a:p>
          <a:p>
            <a:r>
              <a:rPr lang="en-US" altLang="zh-TW" sz="1000" dirty="0"/>
              <a:t># -----------------------------------------------------------</a:t>
            </a:r>
          </a:p>
          <a:p>
            <a:r>
              <a:rPr lang="en-US" altLang="zh-TW" sz="1000" dirty="0"/>
              <a:t># 1. </a:t>
            </a:r>
            <a:r>
              <a:rPr lang="zh-TW" altLang="en-US" sz="1000" dirty="0"/>
              <a:t>執行時間 </a:t>
            </a:r>
            <a:r>
              <a:rPr lang="en-US" altLang="zh-TW" sz="1000" dirty="0"/>
              <a:t>Time: </a:t>
            </a:r>
            <a:r>
              <a:rPr lang="zh-TW" altLang="en-US" sz="1000" dirty="0"/>
              <a:t>受最高速度限制，但加速度大降速快；轉向太靈敏可能震盪耗時</a:t>
            </a:r>
          </a:p>
          <a:p>
            <a:r>
              <a:rPr lang="zh-TW" altLang="en-US" sz="1000" dirty="0"/>
              <a:t>        </a:t>
            </a:r>
            <a:r>
              <a:rPr lang="en-US" altLang="zh-TW" sz="1000" dirty="0" err="1"/>
              <a:t>execution_time</a:t>
            </a:r>
            <a:r>
              <a:rPr lang="en-US" altLang="zh-TW" sz="1000" dirty="0"/>
              <a:t> = (100.0 / 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) + (10.0 /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+ (0.3 *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) + (0.2 * 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)</a:t>
            </a:r>
          </a:p>
          <a:p>
            <a:r>
              <a:rPr lang="en-US" altLang="zh-TW" sz="1000" dirty="0"/>
              <a:t>        </a:t>
            </a:r>
          </a:p>
          <a:p>
            <a:r>
              <a:rPr lang="en-US" altLang="zh-TW" sz="1000" dirty="0"/>
              <a:t># 2. </a:t>
            </a:r>
            <a:r>
              <a:rPr lang="zh-TW" altLang="en-US" sz="1000" dirty="0"/>
              <a:t>碰撞與不平穩風險 </a:t>
            </a:r>
            <a:r>
              <a:rPr lang="en-US" altLang="zh-TW" sz="1000" dirty="0"/>
              <a:t>Risk: </a:t>
            </a:r>
            <a:r>
              <a:rPr lang="zh-TW" altLang="en-US" sz="1000" dirty="0"/>
              <a:t>速度與加速度越大風險越高；安全權重與 </a:t>
            </a:r>
            <a:r>
              <a:rPr lang="en-US" altLang="zh-TW" sz="1000" dirty="0"/>
              <a:t>MPC </a:t>
            </a:r>
            <a:r>
              <a:rPr lang="zh-TW" altLang="en-US" sz="1000" dirty="0"/>
              <a:t>比值越大越平穩</a:t>
            </a:r>
            <a:r>
              <a:rPr lang="en-US" altLang="zh-TW" sz="1000" dirty="0"/>
              <a:t>(</a:t>
            </a:r>
            <a:r>
              <a:rPr lang="zh-TW" altLang="en-US" sz="1000" dirty="0"/>
              <a:t>風險低</a:t>
            </a:r>
            <a:r>
              <a:rPr lang="en-US" altLang="zh-TW" sz="1000" dirty="0"/>
              <a:t>)</a:t>
            </a:r>
          </a:p>
          <a:p>
            <a:r>
              <a:rPr lang="en-US" altLang="zh-TW" sz="1000" dirty="0"/>
              <a:t>        </a:t>
            </a:r>
            <a:r>
              <a:rPr lang="en-US" altLang="zh-TW" sz="1000" dirty="0" err="1"/>
              <a:t>collision_risk</a:t>
            </a:r>
            <a:r>
              <a:rPr lang="en-US" altLang="zh-TW" sz="1000" dirty="0"/>
              <a:t> = (0.15 * (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 ** 2)) + (0.5 *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+ (5.0 /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) + (100.0 / </a:t>
            </a:r>
            <a:r>
              <a:rPr lang="en-US" altLang="zh-TW" sz="1000" dirty="0" err="1"/>
              <a:t>q_r_ratio</a:t>
            </a:r>
            <a:r>
              <a:rPr lang="en-US" altLang="zh-TW" sz="1000" dirty="0"/>
              <a:t>)</a:t>
            </a:r>
            <a:endParaRPr lang="zh-TW" altLang="en-US" sz="10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1EFC32B-C683-5C68-2DD3-99E4002358C6}"/>
              </a:ext>
            </a:extLst>
          </p:cNvPr>
          <p:cNvSpPr txBox="1"/>
          <p:nvPr/>
        </p:nvSpPr>
        <p:spPr>
          <a:xfrm>
            <a:off x="6580336" y="912357"/>
            <a:ext cx="5457335" cy="17851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# === 【GA </a:t>
            </a:r>
            <a:r>
              <a:rPr lang="zh-TW" altLang="en-US" sz="1000" dirty="0"/>
              <a:t>參數可調區域</a:t>
            </a:r>
            <a:r>
              <a:rPr lang="en-US" altLang="zh-TW" sz="1000" dirty="0"/>
              <a:t>】 ===</a:t>
            </a:r>
          </a:p>
          <a:p>
            <a:r>
              <a:rPr lang="en-US" altLang="zh-TW" sz="1000" dirty="0"/>
              <a:t>POP_SIZE = 60          # </a:t>
            </a:r>
            <a:r>
              <a:rPr lang="zh-TW" altLang="en-US" sz="1000" dirty="0"/>
              <a:t>族群大小 </a:t>
            </a:r>
            <a:r>
              <a:rPr lang="en-US" altLang="zh-TW" sz="1000" dirty="0"/>
              <a:t>(Population Size)</a:t>
            </a:r>
          </a:p>
          <a:p>
            <a:r>
              <a:rPr lang="en-US" altLang="zh-TW" sz="1000" dirty="0"/>
              <a:t>N_GEN = 50             # </a:t>
            </a:r>
            <a:r>
              <a:rPr lang="zh-TW" altLang="en-US" sz="1000" dirty="0"/>
              <a:t>演化代數 </a:t>
            </a:r>
            <a:r>
              <a:rPr lang="en-US" altLang="zh-TW" sz="1000" dirty="0"/>
              <a:t>(Generations)</a:t>
            </a:r>
          </a:p>
          <a:p>
            <a:endParaRPr lang="en-US" altLang="zh-TW" sz="1000" dirty="0"/>
          </a:p>
          <a:p>
            <a:r>
              <a:rPr lang="en-US" altLang="zh-TW" sz="1000" dirty="0"/>
              <a:t># SBX </a:t>
            </a:r>
            <a:r>
              <a:rPr lang="zh-TW" altLang="en-US" sz="1000" dirty="0"/>
              <a:t>交叉算子設定 </a:t>
            </a:r>
            <a:r>
              <a:rPr lang="en-US" altLang="zh-TW" sz="1000" dirty="0"/>
              <a:t>(Simulated Binary Crossover)</a:t>
            </a:r>
          </a:p>
          <a:p>
            <a:r>
              <a:rPr lang="en-US" altLang="zh-TW" sz="1000" dirty="0"/>
              <a:t>CROSSOVER_PROB = 0.9   # </a:t>
            </a:r>
            <a:r>
              <a:rPr lang="zh-TW" altLang="en-US" sz="1000" dirty="0"/>
              <a:t>交叉機率 </a:t>
            </a:r>
            <a:r>
              <a:rPr lang="en-US" altLang="zh-TW" sz="1000" dirty="0"/>
              <a:t>(</a:t>
            </a:r>
            <a:r>
              <a:rPr lang="zh-TW" altLang="en-US" sz="1000" dirty="0"/>
              <a:t>預設 </a:t>
            </a:r>
            <a:r>
              <a:rPr lang="en-US" altLang="zh-TW" sz="1000" dirty="0"/>
              <a:t>0.9)</a:t>
            </a:r>
          </a:p>
          <a:p>
            <a:r>
              <a:rPr lang="en-US" altLang="zh-TW" sz="1000" dirty="0"/>
              <a:t>ETA_C = 15.0           # </a:t>
            </a:r>
            <a:r>
              <a:rPr lang="zh-TW" altLang="en-US" sz="1000" dirty="0"/>
              <a:t>交叉分佈指數 </a:t>
            </a:r>
            <a:r>
              <a:rPr lang="el-GR" altLang="zh-TW" sz="1000" dirty="0"/>
              <a:t>η_</a:t>
            </a:r>
            <a:r>
              <a:rPr lang="en-US" altLang="zh-TW" sz="1000" dirty="0"/>
              <a:t>c (</a:t>
            </a:r>
            <a:r>
              <a:rPr lang="zh-TW" altLang="en-US" sz="1000" dirty="0"/>
              <a:t>值越大搜尋越保守，值越小搜尋越激進</a:t>
            </a:r>
            <a:r>
              <a:rPr lang="en-US" altLang="zh-TW" sz="1000" dirty="0"/>
              <a:t>)</a:t>
            </a:r>
          </a:p>
          <a:p>
            <a:endParaRPr lang="en-US" altLang="zh-TW" sz="1000" dirty="0"/>
          </a:p>
          <a:p>
            <a:r>
              <a:rPr lang="en-US" altLang="zh-TW" sz="1000" dirty="0"/>
              <a:t># </a:t>
            </a:r>
            <a:r>
              <a:rPr lang="zh-TW" altLang="en-US" sz="1000" dirty="0"/>
              <a:t>多項式突變算子設定 </a:t>
            </a:r>
            <a:r>
              <a:rPr lang="en-US" altLang="zh-TW" sz="1000" dirty="0"/>
              <a:t>(Polynomial Mutation)</a:t>
            </a:r>
          </a:p>
          <a:p>
            <a:r>
              <a:rPr lang="en-US" altLang="zh-TW" sz="1000" dirty="0"/>
              <a:t>MUTATION_PROB = 0.2    # </a:t>
            </a:r>
            <a:r>
              <a:rPr lang="zh-TW" altLang="en-US" sz="1000" dirty="0"/>
              <a:t>突變機率 </a:t>
            </a:r>
            <a:r>
              <a:rPr lang="en-US" altLang="zh-TW" sz="1000" dirty="0"/>
              <a:t>(</a:t>
            </a:r>
            <a:r>
              <a:rPr lang="zh-TW" altLang="en-US" sz="1000" dirty="0"/>
              <a:t>建議設為 </a:t>
            </a:r>
            <a:r>
              <a:rPr lang="en-US" altLang="zh-TW" sz="1000" dirty="0"/>
              <a:t>1/</a:t>
            </a:r>
            <a:r>
              <a:rPr lang="en-US" altLang="zh-TW" sz="1000" dirty="0" err="1"/>
              <a:t>n_var</a:t>
            </a:r>
            <a:r>
              <a:rPr lang="en-US" altLang="zh-TW" sz="1000" dirty="0"/>
              <a:t> = 1/5 = 0.2)</a:t>
            </a:r>
          </a:p>
          <a:p>
            <a:r>
              <a:rPr lang="en-US" altLang="zh-TW" sz="1000" b="1" dirty="0">
                <a:solidFill>
                  <a:srgbClr val="00B0F0"/>
                </a:solidFill>
              </a:rPr>
              <a:t>ETA_M = 0.00001           # </a:t>
            </a:r>
            <a:r>
              <a:rPr lang="zh-TW" altLang="en-US" sz="1000" b="1" dirty="0">
                <a:solidFill>
                  <a:srgbClr val="00B0F0"/>
                </a:solidFill>
              </a:rPr>
              <a:t>突變分佈指數 </a:t>
            </a:r>
            <a:r>
              <a:rPr lang="el-GR" altLang="zh-TW" sz="1000" b="1" dirty="0">
                <a:solidFill>
                  <a:srgbClr val="00B0F0"/>
                </a:solidFill>
              </a:rPr>
              <a:t>η_</a:t>
            </a:r>
            <a:r>
              <a:rPr lang="en-US" altLang="zh-TW" sz="1000" b="1" dirty="0">
                <a:solidFill>
                  <a:srgbClr val="00B0F0"/>
                </a:solidFill>
              </a:rPr>
              <a:t>m (</a:t>
            </a:r>
            <a:r>
              <a:rPr lang="zh-TW" altLang="en-US" sz="1000" b="1" dirty="0">
                <a:solidFill>
                  <a:srgbClr val="00B0F0"/>
                </a:solidFill>
              </a:rPr>
              <a:t>值越大擾動幅度越小</a:t>
            </a:r>
            <a:r>
              <a:rPr lang="en-US" altLang="zh-TW" sz="1000" b="1" dirty="0">
                <a:solidFill>
                  <a:srgbClr val="00B0F0"/>
                </a:solidFill>
              </a:rPr>
              <a:t>/</a:t>
            </a:r>
            <a:r>
              <a:rPr lang="zh-TW" altLang="en-US" sz="1000" b="1" dirty="0">
                <a:solidFill>
                  <a:srgbClr val="00B0F0"/>
                </a:solidFill>
              </a:rPr>
              <a:t>精細，值越小擾動越劇烈</a:t>
            </a:r>
            <a:r>
              <a:rPr lang="en-US" altLang="zh-TW" sz="1000" b="1" dirty="0">
                <a:solidFill>
                  <a:srgbClr val="00B0F0"/>
                </a:solidFill>
              </a:rPr>
              <a:t>)</a:t>
            </a:r>
            <a:endParaRPr lang="zh-TW" altLang="en-US" sz="1000" b="1" dirty="0">
              <a:solidFill>
                <a:srgbClr val="00B0F0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BB045B0-1FC8-ABB9-0163-84E71F2EF789}"/>
              </a:ext>
            </a:extLst>
          </p:cNvPr>
          <p:cNvSpPr txBox="1"/>
          <p:nvPr/>
        </p:nvSpPr>
        <p:spPr>
          <a:xfrm>
            <a:off x="6580336" y="2962586"/>
            <a:ext cx="5457335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=== 5 </a:t>
            </a:r>
            <a:r>
              <a:rPr lang="zh-TW" altLang="en-US" sz="1000" dirty="0"/>
              <a:t>維 </a:t>
            </a:r>
            <a:r>
              <a:rPr lang="en-US" altLang="zh-TW" sz="1000" dirty="0"/>
              <a:t>AMR </a:t>
            </a:r>
            <a:r>
              <a:rPr lang="zh-TW" altLang="en-US" sz="1000" dirty="0"/>
              <a:t>超參數 </a:t>
            </a:r>
            <a:r>
              <a:rPr lang="en-US" altLang="zh-TW" sz="1000" dirty="0"/>
              <a:t>- </a:t>
            </a:r>
            <a:r>
              <a:rPr lang="zh-TW" altLang="en-US" sz="1000" dirty="0"/>
              <a:t>帕累托最優解 </a:t>
            </a:r>
            <a:r>
              <a:rPr lang="en-US" altLang="zh-TW" sz="1000" dirty="0"/>
              <a:t>(</a:t>
            </a:r>
            <a:r>
              <a:rPr lang="zh-TW" altLang="en-US" sz="1000" dirty="0"/>
              <a:t>部分</a:t>
            </a:r>
            <a:r>
              <a:rPr lang="en-US" altLang="zh-TW" sz="1000" dirty="0"/>
              <a:t>) ===</a:t>
            </a:r>
          </a:p>
          <a:p>
            <a:r>
              <a:rPr lang="en-US" altLang="zh-TW" sz="1000" dirty="0"/>
              <a:t>  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 | 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q_r_ratio</a:t>
            </a:r>
            <a:r>
              <a:rPr lang="en-US" altLang="zh-TW" sz="1000" dirty="0"/>
              <a:t> || Exec Time | Risk Score</a:t>
            </a:r>
          </a:p>
          <a:p>
            <a:r>
              <a:rPr lang="en-US" altLang="zh-TW" sz="1000" dirty="0"/>
              <a:t>---------------------------------------------------------------------------</a:t>
            </a:r>
          </a:p>
          <a:p>
            <a:r>
              <a:rPr lang="en-US" altLang="zh-TW" sz="1000" dirty="0"/>
              <a:t>   0.50 |   0.10 |    10.00 |    0.51 |     979.3 ||    301.71 |       0.69</a:t>
            </a:r>
          </a:p>
          <a:p>
            <a:r>
              <a:rPr lang="en-US" altLang="zh-TW" sz="1000" dirty="0"/>
              <a:t>   3.00 |   2.00 |     0.18 |    0.53 |     917.8 ||     38.51 |      30.53</a:t>
            </a:r>
          </a:p>
          <a:p>
            <a:r>
              <a:rPr lang="en-US" altLang="zh-TW" sz="1000" dirty="0"/>
              <a:t>   3.00 |   2.00 |     0.23 |    0.52 |     971.4 ||     38.53 |      24.51</a:t>
            </a:r>
          </a:p>
          <a:p>
            <a:r>
              <a:rPr lang="en-US" altLang="zh-TW" sz="1000" dirty="0"/>
              <a:t>   3.00 |   2.00 |     0.33 |    0.50 |     965.5 ||     38.55 |      17.62</a:t>
            </a:r>
          </a:p>
          <a:p>
            <a:r>
              <a:rPr lang="en-US" altLang="zh-TW" sz="1000" dirty="0"/>
              <a:t>   3.00 |   2.00 |     0.47 |    0.53 |     917.8 ||     38.60 |      12.99</a:t>
            </a:r>
          </a:p>
          <a:p>
            <a:endParaRPr lang="en-US" altLang="zh-TW" sz="1000" dirty="0"/>
          </a:p>
          <a:p>
            <a:r>
              <a:rPr lang="en-US" altLang="zh-TW" sz="1000" dirty="0"/>
              <a:t>===================================================</a:t>
            </a:r>
          </a:p>
          <a:p>
            <a:r>
              <a:rPr lang="en-US" altLang="zh-TW" sz="1000" dirty="0"/>
              <a:t>★【</a:t>
            </a:r>
            <a:r>
              <a:rPr lang="zh-TW" altLang="en-US" sz="1000" dirty="0"/>
              <a:t>膝點法計算結果 </a:t>
            </a:r>
            <a:r>
              <a:rPr lang="en-US" altLang="zh-TW" sz="1000" dirty="0"/>
              <a:t>- </a:t>
            </a:r>
            <a:r>
              <a:rPr lang="zh-TW" altLang="en-US" sz="1000" dirty="0"/>
              <a:t>最佳折衷方案 </a:t>
            </a:r>
            <a:r>
              <a:rPr lang="en-US" altLang="zh-TW" sz="1000" dirty="0"/>
              <a:t>(Knee Point / Best Trade-off)】★</a:t>
            </a:r>
          </a:p>
          <a:p>
            <a:r>
              <a:rPr lang="en-US" altLang="zh-TW" sz="1000" dirty="0"/>
              <a:t>===================================================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最高車速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)     : 2.72 m/s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最大加速度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  : 1.83 m/s²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安全距離權重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w_safe</a:t>
            </a:r>
            <a:r>
              <a:rPr lang="en-US" altLang="zh-TW" sz="1000" dirty="0"/>
              <a:t>): 9.95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轉向靈敏度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)  : 0.53</a:t>
            </a:r>
          </a:p>
          <a:p>
            <a:r>
              <a:rPr lang="en-US" altLang="zh-TW" sz="1000" dirty="0"/>
              <a:t> ▸ MPC Q/R </a:t>
            </a:r>
            <a:r>
              <a:rPr lang="zh-TW" altLang="en-US" sz="1000" dirty="0"/>
              <a:t>比值         </a:t>
            </a:r>
            <a:r>
              <a:rPr lang="en-US" altLang="zh-TW" sz="1000" dirty="0"/>
              <a:t>: 971.7</a:t>
            </a:r>
          </a:p>
          <a:p>
            <a:r>
              <a:rPr lang="en-US" altLang="zh-TW" sz="1000" dirty="0"/>
              <a:t>---------------------------------------------</a:t>
            </a:r>
          </a:p>
          <a:p>
            <a:r>
              <a:rPr lang="en-US" altLang="zh-TW" sz="1000" dirty="0"/>
              <a:t> </a:t>
            </a:r>
            <a:r>
              <a:rPr lang="zh-TW" altLang="en-US" sz="1000" dirty="0"/>
              <a:t>🎯 執行時間 </a:t>
            </a:r>
            <a:r>
              <a:rPr lang="en-US" altLang="zh-TW" sz="1000" dirty="0"/>
              <a:t>(Exec Time) : 45.32 </a:t>
            </a:r>
            <a:r>
              <a:rPr lang="zh-TW" altLang="en-US" sz="1000" dirty="0"/>
              <a:t>秒</a:t>
            </a:r>
          </a:p>
          <a:p>
            <a:r>
              <a:rPr lang="zh-TW" altLang="en-US" sz="1000" dirty="0"/>
              <a:t> 🎯 碰撞風險 </a:t>
            </a:r>
            <a:r>
              <a:rPr lang="en-US" altLang="zh-TW" sz="1000" dirty="0"/>
              <a:t>(Risk Score): 2.63</a:t>
            </a:r>
          </a:p>
          <a:p>
            <a:r>
              <a:rPr lang="en-US" altLang="zh-TW" sz="1000" dirty="0"/>
              <a:t>===================================================</a:t>
            </a:r>
            <a:endParaRPr lang="zh-TW" altLang="en-US" sz="10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D30BABF-7BE0-25A9-F6CC-D90694D95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633" y="2261419"/>
            <a:ext cx="5920799" cy="4359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995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6FCB1-F60F-608F-794D-48373019D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626CE1-683A-74F4-7B64-EA7C10DFA5C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CD940115-CAEA-6B2C-845D-902C209D393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B07E0D95-A2D1-A2BB-283D-D9269971B19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lvl="0">
              <a:defRPr/>
            </a:pPr>
            <a:r>
              <a:rPr kumimoji="0" lang="en-US" altLang="zh-TW" sz="2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rPr>
              <a:t>Non-dominated Sorting Genetic Algorithm III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032E9288-80C9-FA1D-14B1-09046E1B57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58"/>
          <a:stretch>
            <a:fillRect/>
          </a:stretch>
        </p:blipFill>
        <p:spPr>
          <a:xfrm>
            <a:off x="1281212" y="549275"/>
            <a:ext cx="9745686" cy="605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745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322E3-AAF5-C383-47D1-D1B59E01F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F4172B-50D1-366B-24A9-2984E8FCA70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2352629C-D6C6-DA60-55E8-07B5ACAF9BF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8EA6DEF7-E160-1F53-617B-2621FA14A09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lvl="0">
              <a:defRPr/>
            </a:pPr>
            <a:r>
              <a:rPr kumimoji="0" lang="en-US" altLang="zh-TW" sz="2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rPr>
              <a:t>NSGA-III </a:t>
            </a:r>
            <a:r>
              <a:rPr kumimoji="0" lang="zh-TW" altLang="en-US" sz="2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rPr>
              <a:t>結構化參考點設計</a:t>
            </a: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1014E3F-337C-6EF6-2DF7-75D1A49668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26"/>
          <a:stretch>
            <a:fillRect/>
          </a:stretch>
        </p:blipFill>
        <p:spPr>
          <a:xfrm>
            <a:off x="1397322" y="548772"/>
            <a:ext cx="9629576" cy="6058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347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A3893-79DE-AE74-BE10-21DBCB6BC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F246A6-33DF-2654-1FC0-B4178C34584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9CB300B6-507B-6DA4-9C89-81F2F13E117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19DE2D92-6ADC-D121-F434-CD9C6A0FA93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lvl="0">
              <a:defRPr/>
            </a:pPr>
            <a:r>
              <a:rPr kumimoji="0" lang="en-US" altLang="zh-TW" sz="2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rPr>
              <a:t>NSGA-III </a:t>
            </a:r>
            <a:r>
              <a:rPr kumimoji="0" lang="zh-TW" altLang="en-US" sz="2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rPr>
              <a:t>正規化的幾何概念</a:t>
            </a: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A78D92C-6070-ED22-52A0-D6F6695324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76"/>
          <a:stretch>
            <a:fillRect/>
          </a:stretch>
        </p:blipFill>
        <p:spPr>
          <a:xfrm>
            <a:off x="1397322" y="548773"/>
            <a:ext cx="9614349" cy="6058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398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E5617-C35A-8789-A556-B0C9E40B6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80CC1F-5BD2-B775-00D0-322F077CF85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65ED7B0E-11C5-4A36-94B0-D9948E6FC05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49E1C000-B651-5832-100A-E295DD8D5C8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lvl="0">
              <a:defRPr/>
            </a:pPr>
            <a:r>
              <a:rPr lang="zh-TW" altLang="en-US" sz="2900" dirty="0">
                <a:solidFill>
                  <a:srgbClr val="FFFFFF"/>
                </a:solidFill>
              </a:rPr>
              <a:t>帕累托前緣曲線結果與最佳化超參數結果呈現 </a:t>
            </a:r>
            <a:r>
              <a:rPr lang="en-US" altLang="zh-TW" sz="2900" dirty="0">
                <a:solidFill>
                  <a:srgbClr val="FFFFFF"/>
                </a:solidFill>
              </a:rPr>
              <a:t>(1)</a:t>
            </a: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B58D424-A80F-43C9-56B1-506DF6CD8C8D}"/>
              </a:ext>
            </a:extLst>
          </p:cNvPr>
          <p:cNvSpPr txBox="1"/>
          <p:nvPr/>
        </p:nvSpPr>
        <p:spPr>
          <a:xfrm>
            <a:off x="6580336" y="2962587"/>
            <a:ext cx="5331755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=== 5 </a:t>
            </a:r>
            <a:r>
              <a:rPr lang="zh-TW" altLang="en-US" sz="1000" dirty="0"/>
              <a:t>維 </a:t>
            </a:r>
            <a:r>
              <a:rPr lang="en-US" altLang="zh-TW" sz="1000" dirty="0"/>
              <a:t>AMR </a:t>
            </a:r>
            <a:r>
              <a:rPr lang="zh-TW" altLang="en-US" sz="1000" dirty="0"/>
              <a:t>超參數 </a:t>
            </a:r>
            <a:r>
              <a:rPr lang="en-US" altLang="zh-TW" sz="1000" dirty="0"/>
              <a:t>- </a:t>
            </a:r>
            <a:r>
              <a:rPr lang="zh-TW" altLang="en-US" sz="1000" dirty="0"/>
              <a:t>帕累托最優解 </a:t>
            </a:r>
            <a:r>
              <a:rPr lang="en-US" altLang="zh-TW" sz="1000" dirty="0"/>
              <a:t>(</a:t>
            </a:r>
            <a:r>
              <a:rPr lang="zh-TW" altLang="en-US" sz="1000" dirty="0"/>
              <a:t>部分</a:t>
            </a:r>
            <a:r>
              <a:rPr lang="en-US" altLang="zh-TW" sz="1000" dirty="0"/>
              <a:t>) ===</a:t>
            </a:r>
          </a:p>
          <a:p>
            <a:r>
              <a:rPr lang="en-US" altLang="zh-TW" sz="1000" dirty="0"/>
              <a:t>  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 | 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q_r_ratio</a:t>
            </a:r>
            <a:r>
              <a:rPr lang="en-US" altLang="zh-TW" sz="1000" dirty="0"/>
              <a:t> || Exec Time | Risk Score</a:t>
            </a:r>
          </a:p>
          <a:p>
            <a:r>
              <a:rPr lang="en-US" altLang="zh-TW" sz="1000" dirty="0"/>
              <a:t>---------------------------------------------------------------------------</a:t>
            </a:r>
          </a:p>
          <a:p>
            <a:r>
              <a:rPr lang="en-US" altLang="zh-TW" sz="1000" dirty="0"/>
              <a:t>   1.53 |   0.56 |     9.96 |    0.53 |     996.8 ||     86.34 |       1.23</a:t>
            </a:r>
          </a:p>
          <a:p>
            <a:r>
              <a:rPr lang="en-US" altLang="zh-TW" sz="1000" dirty="0"/>
              <a:t>   2.35 |   0.61 |     9.97 |    0.63 |     987.0 ||     62.11 |       1.73</a:t>
            </a:r>
          </a:p>
          <a:p>
            <a:r>
              <a:rPr lang="en-US" altLang="zh-TW" sz="1000" dirty="0"/>
              <a:t>   0.62 |   0.10 |     9.99 |    0.55 |     985.7 ||    259.67 |       0.71</a:t>
            </a:r>
          </a:p>
          <a:p>
            <a:r>
              <a:rPr lang="en-US" altLang="zh-TW" sz="1000" dirty="0"/>
              <a:t>   2.99 |   1.29 |     9.97 |    0.52 |     988.7 ||     44.28 |       2.59</a:t>
            </a:r>
          </a:p>
          <a:p>
            <a:r>
              <a:rPr lang="en-US" altLang="zh-TW" sz="1000" dirty="0"/>
              <a:t>   2.33 |   1.24 |    10.00 |    0.51 |     957.2 ||     54.02 |       2.04</a:t>
            </a:r>
          </a:p>
          <a:p>
            <a:endParaRPr lang="en-US" altLang="zh-TW" sz="1000" dirty="0"/>
          </a:p>
          <a:p>
            <a:r>
              <a:rPr lang="en-US" altLang="zh-TW" sz="1000" dirty="0"/>
              <a:t>====================================================</a:t>
            </a:r>
          </a:p>
          <a:p>
            <a:r>
              <a:rPr lang="en-US" altLang="zh-TW" sz="1000" dirty="0"/>
              <a:t>★【</a:t>
            </a:r>
            <a:r>
              <a:rPr lang="zh-TW" altLang="en-US" sz="1000" dirty="0"/>
              <a:t>膝點法計算結果 </a:t>
            </a:r>
            <a:r>
              <a:rPr lang="en-US" altLang="zh-TW" sz="1000" dirty="0"/>
              <a:t>- </a:t>
            </a:r>
            <a:r>
              <a:rPr lang="zh-TW" altLang="en-US" sz="1000" dirty="0"/>
              <a:t>最佳折衷方案 </a:t>
            </a:r>
            <a:r>
              <a:rPr lang="en-US" altLang="zh-TW" sz="1000" dirty="0"/>
              <a:t>(Knee Point / Best Trade-off)】★</a:t>
            </a:r>
          </a:p>
          <a:p>
            <a:r>
              <a:rPr lang="en-US" altLang="zh-TW" sz="1000" dirty="0"/>
              <a:t>====================================================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最高車速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)     : 2.15 m/s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最大加速度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  : 0.61 m/s²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安全距離權重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w_safe</a:t>
            </a:r>
            <a:r>
              <a:rPr lang="en-US" altLang="zh-TW" sz="1000" dirty="0"/>
              <a:t>): 9.95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轉向靈敏度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)  : 0.63</a:t>
            </a:r>
          </a:p>
          <a:p>
            <a:r>
              <a:rPr lang="en-US" altLang="zh-TW" sz="1000" dirty="0"/>
              <a:t> ▸ MPC Q/R </a:t>
            </a:r>
            <a:r>
              <a:rPr lang="zh-TW" altLang="en-US" sz="1000" dirty="0"/>
              <a:t>比值         </a:t>
            </a:r>
            <a:r>
              <a:rPr lang="en-US" altLang="zh-TW" sz="1000" dirty="0"/>
              <a:t>: 995.7</a:t>
            </a:r>
          </a:p>
          <a:p>
            <a:r>
              <a:rPr lang="en-US" altLang="zh-TW" sz="1000" dirty="0"/>
              <a:t>---------------------------------------------</a:t>
            </a:r>
          </a:p>
          <a:p>
            <a:r>
              <a:rPr lang="en-US" altLang="zh-TW" sz="1000" dirty="0"/>
              <a:t> </a:t>
            </a:r>
            <a:r>
              <a:rPr lang="zh-TW" altLang="en-US" sz="1000" dirty="0"/>
              <a:t>🎯 執行時間 </a:t>
            </a:r>
            <a:r>
              <a:rPr lang="en-US" altLang="zh-TW" sz="1000" dirty="0"/>
              <a:t>(Exec Time) : 66.16 </a:t>
            </a:r>
            <a:r>
              <a:rPr lang="zh-TW" altLang="en-US" sz="1000" dirty="0"/>
              <a:t>秒</a:t>
            </a:r>
          </a:p>
          <a:p>
            <a:r>
              <a:rPr lang="zh-TW" altLang="en-US" sz="1000" dirty="0"/>
              <a:t> 🎯 碰撞風險 </a:t>
            </a:r>
            <a:r>
              <a:rPr lang="en-US" altLang="zh-TW" sz="1000" dirty="0"/>
              <a:t>(Risk Score): 1.60</a:t>
            </a:r>
          </a:p>
          <a:p>
            <a:r>
              <a:rPr lang="en-US" altLang="zh-TW" sz="1000" dirty="0"/>
              <a:t>====================================================</a:t>
            </a:r>
            <a:endParaRPr lang="zh-TW" altLang="en-US" sz="10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344DF68-4744-EDB7-602B-7C9BAD472A71}"/>
              </a:ext>
            </a:extLst>
          </p:cNvPr>
          <p:cNvSpPr txBox="1"/>
          <p:nvPr/>
        </p:nvSpPr>
        <p:spPr>
          <a:xfrm>
            <a:off x="349358" y="699083"/>
            <a:ext cx="5962749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# -----------------------------------------------------------</a:t>
            </a:r>
          </a:p>
          <a:p>
            <a:r>
              <a:rPr lang="en-US" altLang="zh-TW" sz="1000" dirty="0"/>
              <a:t># </a:t>
            </a:r>
            <a:r>
              <a:rPr lang="zh-TW" altLang="en-US" sz="1000" dirty="0"/>
              <a:t>模擬多維度 </a:t>
            </a:r>
            <a:r>
              <a:rPr lang="en-US" altLang="zh-TW" sz="1000" dirty="0"/>
              <a:t>AMR </a:t>
            </a:r>
            <a:r>
              <a:rPr lang="zh-TW" altLang="en-US" sz="1000" dirty="0"/>
              <a:t>黑盒評價方程 </a:t>
            </a:r>
            <a:r>
              <a:rPr lang="en-US" altLang="zh-TW" sz="1000" dirty="0"/>
              <a:t>(</a:t>
            </a:r>
            <a:r>
              <a:rPr lang="zh-TW" altLang="en-US" sz="1000" dirty="0"/>
              <a:t>綜合考慮物理動態與控制</a:t>
            </a:r>
            <a:r>
              <a:rPr lang="en-US" altLang="zh-TW" sz="1000" dirty="0"/>
              <a:t>):</a:t>
            </a:r>
          </a:p>
          <a:p>
            <a:r>
              <a:rPr lang="en-US" altLang="zh-TW" sz="1000" dirty="0"/>
              <a:t># -----------------------------------------------------------</a:t>
            </a:r>
          </a:p>
          <a:p>
            <a:r>
              <a:rPr lang="en-US" altLang="zh-TW" sz="1000" dirty="0"/>
              <a:t># 1. </a:t>
            </a:r>
            <a:r>
              <a:rPr lang="zh-TW" altLang="en-US" sz="1000" dirty="0"/>
              <a:t>執行時間 </a:t>
            </a:r>
            <a:r>
              <a:rPr lang="en-US" altLang="zh-TW" sz="1000" dirty="0"/>
              <a:t>Time: </a:t>
            </a:r>
            <a:r>
              <a:rPr lang="zh-TW" altLang="en-US" sz="1000" dirty="0"/>
              <a:t>受最高速度限制，但加速度大降速快；轉向太靈敏可能震盪耗時</a:t>
            </a:r>
          </a:p>
          <a:p>
            <a:r>
              <a:rPr lang="zh-TW" altLang="en-US" sz="1000" dirty="0"/>
              <a:t>        </a:t>
            </a:r>
            <a:r>
              <a:rPr lang="en-US" altLang="zh-TW" sz="1000" dirty="0" err="1"/>
              <a:t>execution_time</a:t>
            </a:r>
            <a:r>
              <a:rPr lang="en-US" altLang="zh-TW" sz="1000" dirty="0"/>
              <a:t> = (100.0 / 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) + (10.0 /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+ (0.3 *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) + (0.2 * 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)</a:t>
            </a:r>
          </a:p>
          <a:p>
            <a:r>
              <a:rPr lang="en-US" altLang="zh-TW" sz="1000" dirty="0"/>
              <a:t>        </a:t>
            </a:r>
          </a:p>
          <a:p>
            <a:r>
              <a:rPr lang="en-US" altLang="zh-TW" sz="1000" dirty="0"/>
              <a:t># 2. </a:t>
            </a:r>
            <a:r>
              <a:rPr lang="zh-TW" altLang="en-US" sz="1000" dirty="0"/>
              <a:t>碰撞與不平穩風險 </a:t>
            </a:r>
            <a:r>
              <a:rPr lang="en-US" altLang="zh-TW" sz="1000" dirty="0"/>
              <a:t>Risk: </a:t>
            </a:r>
            <a:r>
              <a:rPr lang="zh-TW" altLang="en-US" sz="1000" dirty="0"/>
              <a:t>速度與加速度越大風險越高；安全權重與 </a:t>
            </a:r>
            <a:r>
              <a:rPr lang="en-US" altLang="zh-TW" sz="1000" dirty="0"/>
              <a:t>MPC </a:t>
            </a:r>
            <a:r>
              <a:rPr lang="zh-TW" altLang="en-US" sz="1000" dirty="0"/>
              <a:t>比值越大越平穩</a:t>
            </a:r>
            <a:r>
              <a:rPr lang="en-US" altLang="zh-TW" sz="1000" dirty="0"/>
              <a:t>(</a:t>
            </a:r>
            <a:r>
              <a:rPr lang="zh-TW" altLang="en-US" sz="1000" dirty="0"/>
              <a:t>風險低</a:t>
            </a:r>
            <a:r>
              <a:rPr lang="en-US" altLang="zh-TW" sz="1000" dirty="0"/>
              <a:t>)</a:t>
            </a:r>
          </a:p>
          <a:p>
            <a:r>
              <a:rPr lang="en-US" altLang="zh-TW" sz="1000" dirty="0"/>
              <a:t>        </a:t>
            </a:r>
            <a:r>
              <a:rPr lang="en-US" altLang="zh-TW" sz="1000" dirty="0" err="1"/>
              <a:t>collision_risk</a:t>
            </a:r>
            <a:r>
              <a:rPr lang="en-US" altLang="zh-TW" sz="1000" dirty="0"/>
              <a:t> = (0.15 * (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 ** 2)) + (0.5 *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+ (5.0 /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) + (100.0 / </a:t>
            </a:r>
            <a:r>
              <a:rPr lang="en-US" altLang="zh-TW" sz="1000" dirty="0" err="1"/>
              <a:t>q_r_ratio</a:t>
            </a:r>
            <a:r>
              <a:rPr lang="en-US" altLang="zh-TW" sz="1000" dirty="0"/>
              <a:t>)</a:t>
            </a:r>
            <a:endParaRPr lang="zh-TW" altLang="en-US" sz="1000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425A2CE2-9963-639C-963A-0DFA1B942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58" y="2215116"/>
            <a:ext cx="5962749" cy="4332793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7534D98E-B262-DB3A-2E98-79E654B03D5C}"/>
              </a:ext>
            </a:extLst>
          </p:cNvPr>
          <p:cNvSpPr txBox="1"/>
          <p:nvPr/>
        </p:nvSpPr>
        <p:spPr>
          <a:xfrm>
            <a:off x="6580337" y="912357"/>
            <a:ext cx="5331755" cy="17851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# === 【GA </a:t>
            </a:r>
            <a:r>
              <a:rPr lang="zh-TW" altLang="en-US" sz="1000" dirty="0"/>
              <a:t>參數可調區域</a:t>
            </a:r>
            <a:r>
              <a:rPr lang="en-US" altLang="zh-TW" sz="1000" dirty="0"/>
              <a:t>】 ===</a:t>
            </a:r>
          </a:p>
          <a:p>
            <a:r>
              <a:rPr lang="en-US" altLang="zh-TW" sz="1000" dirty="0"/>
              <a:t>POP_SIZE = 60          # </a:t>
            </a:r>
            <a:r>
              <a:rPr lang="zh-TW" altLang="en-US" sz="1000" dirty="0"/>
              <a:t>族群大小 </a:t>
            </a:r>
            <a:r>
              <a:rPr lang="en-US" altLang="zh-TW" sz="1000" dirty="0"/>
              <a:t>(Population Size)</a:t>
            </a:r>
          </a:p>
          <a:p>
            <a:r>
              <a:rPr lang="en-US" altLang="zh-TW" sz="1000" dirty="0"/>
              <a:t>N_GEN = 50             # </a:t>
            </a:r>
            <a:r>
              <a:rPr lang="zh-TW" altLang="en-US" sz="1000" dirty="0"/>
              <a:t>演化代數 </a:t>
            </a:r>
            <a:r>
              <a:rPr lang="en-US" altLang="zh-TW" sz="1000" dirty="0"/>
              <a:t>(Generations)</a:t>
            </a:r>
          </a:p>
          <a:p>
            <a:endParaRPr lang="en-US" altLang="zh-TW" sz="1000" dirty="0"/>
          </a:p>
          <a:p>
            <a:r>
              <a:rPr lang="en-US" altLang="zh-TW" sz="1000" dirty="0"/>
              <a:t># SBX </a:t>
            </a:r>
            <a:r>
              <a:rPr lang="zh-TW" altLang="en-US" sz="1000" dirty="0"/>
              <a:t>交叉算子設定 </a:t>
            </a:r>
            <a:r>
              <a:rPr lang="en-US" altLang="zh-TW" sz="1000" dirty="0"/>
              <a:t>(Simulated Binary Crossover)</a:t>
            </a:r>
          </a:p>
          <a:p>
            <a:r>
              <a:rPr lang="en-US" altLang="zh-TW" sz="1000" dirty="0"/>
              <a:t>CROSSOVER_PROB = 0.9   # </a:t>
            </a:r>
            <a:r>
              <a:rPr lang="zh-TW" altLang="en-US" sz="1000" dirty="0"/>
              <a:t>交叉機率 </a:t>
            </a:r>
            <a:r>
              <a:rPr lang="en-US" altLang="zh-TW" sz="1000" dirty="0"/>
              <a:t>(</a:t>
            </a:r>
            <a:r>
              <a:rPr lang="zh-TW" altLang="en-US" sz="1000" dirty="0"/>
              <a:t>預設 </a:t>
            </a:r>
            <a:r>
              <a:rPr lang="en-US" altLang="zh-TW" sz="1000" dirty="0"/>
              <a:t>0.9)</a:t>
            </a:r>
          </a:p>
          <a:p>
            <a:r>
              <a:rPr lang="en-US" altLang="zh-TW" sz="1000" dirty="0"/>
              <a:t>ETA_C = 15.0           # </a:t>
            </a:r>
            <a:r>
              <a:rPr lang="zh-TW" altLang="en-US" sz="1000" dirty="0"/>
              <a:t>交叉分佈指數 </a:t>
            </a:r>
            <a:r>
              <a:rPr lang="el-GR" altLang="zh-TW" sz="1000" dirty="0"/>
              <a:t>η_</a:t>
            </a:r>
            <a:r>
              <a:rPr lang="en-US" altLang="zh-TW" sz="1000" dirty="0"/>
              <a:t>c (</a:t>
            </a:r>
            <a:r>
              <a:rPr lang="zh-TW" altLang="en-US" sz="1000" dirty="0"/>
              <a:t>值越大搜尋越保守，值越小搜尋越激進</a:t>
            </a:r>
            <a:r>
              <a:rPr lang="en-US" altLang="zh-TW" sz="1000" dirty="0"/>
              <a:t>)</a:t>
            </a:r>
          </a:p>
          <a:p>
            <a:endParaRPr lang="en-US" altLang="zh-TW" sz="1000" dirty="0"/>
          </a:p>
          <a:p>
            <a:r>
              <a:rPr lang="en-US" altLang="zh-TW" sz="1000" dirty="0"/>
              <a:t># </a:t>
            </a:r>
            <a:r>
              <a:rPr lang="zh-TW" altLang="en-US" sz="1000" dirty="0"/>
              <a:t>多項式突變算子設定 </a:t>
            </a:r>
            <a:r>
              <a:rPr lang="en-US" altLang="zh-TW" sz="1000" dirty="0"/>
              <a:t>(Polynomial Mutation)</a:t>
            </a:r>
          </a:p>
          <a:p>
            <a:r>
              <a:rPr lang="en-US" altLang="zh-TW" sz="1000" dirty="0"/>
              <a:t>MUTATION_PROB = 0.2    # </a:t>
            </a:r>
            <a:r>
              <a:rPr lang="zh-TW" altLang="en-US" sz="1000" dirty="0"/>
              <a:t>突變機率 </a:t>
            </a:r>
            <a:r>
              <a:rPr lang="en-US" altLang="zh-TW" sz="1000" dirty="0"/>
              <a:t>(</a:t>
            </a:r>
            <a:r>
              <a:rPr lang="zh-TW" altLang="en-US" sz="1000" dirty="0"/>
              <a:t>建議設為 </a:t>
            </a:r>
            <a:r>
              <a:rPr lang="en-US" altLang="zh-TW" sz="1000" dirty="0"/>
              <a:t>1/</a:t>
            </a:r>
            <a:r>
              <a:rPr lang="en-US" altLang="zh-TW" sz="1000" dirty="0" err="1"/>
              <a:t>n_var</a:t>
            </a:r>
            <a:r>
              <a:rPr lang="en-US" altLang="zh-TW" sz="1000" dirty="0"/>
              <a:t> = 1/5 = 0.2)</a:t>
            </a:r>
          </a:p>
          <a:p>
            <a:r>
              <a:rPr lang="en-US" altLang="zh-TW" sz="1000" dirty="0"/>
              <a:t>ETA_M = 20.0           # </a:t>
            </a:r>
            <a:r>
              <a:rPr lang="zh-TW" altLang="en-US" sz="1000" dirty="0"/>
              <a:t>突變分佈指數 </a:t>
            </a:r>
            <a:r>
              <a:rPr lang="el-GR" altLang="zh-TW" sz="1000" dirty="0"/>
              <a:t>η_</a:t>
            </a:r>
            <a:r>
              <a:rPr lang="en-US" altLang="zh-TW" sz="1000" dirty="0"/>
              <a:t>m (</a:t>
            </a:r>
            <a:r>
              <a:rPr lang="zh-TW" altLang="en-US" sz="1000" dirty="0"/>
              <a:t>值越大擾動幅度越小</a:t>
            </a:r>
            <a:r>
              <a:rPr lang="en-US" altLang="zh-TW" sz="1000" dirty="0"/>
              <a:t>/</a:t>
            </a:r>
            <a:r>
              <a:rPr lang="zh-TW" altLang="en-US" sz="1000" dirty="0"/>
              <a:t>精細，值越小擾動越劇烈</a:t>
            </a:r>
            <a:r>
              <a:rPr lang="en-US" altLang="zh-TW" sz="1000" dirty="0"/>
              <a:t>)</a:t>
            </a:r>
            <a:endParaRPr lang="zh-TW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620291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A5E22-5397-75DB-93CB-4B4B3D410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A4135B-56C6-A914-61D5-F7DE3706361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BB92C48B-4DC7-FD71-52D1-A92A32B8C37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3789ACE0-5470-1A05-7C5C-992F4D36A20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lvl="0">
              <a:defRPr/>
            </a:pPr>
            <a:r>
              <a:rPr lang="zh-TW" altLang="en-US" sz="2900" dirty="0">
                <a:solidFill>
                  <a:srgbClr val="FFFFFF"/>
                </a:solidFill>
              </a:rPr>
              <a:t>帕累托前緣曲線結果與最佳化超參數結果呈現 </a:t>
            </a:r>
            <a:r>
              <a:rPr lang="en-US" altLang="zh-TW" sz="2900" dirty="0">
                <a:solidFill>
                  <a:srgbClr val="FFFFFF"/>
                </a:solidFill>
              </a:rPr>
              <a:t>(2)</a:t>
            </a: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4945D57-990D-0FF8-5E44-F48BCDD43CF2}"/>
              </a:ext>
            </a:extLst>
          </p:cNvPr>
          <p:cNvSpPr txBox="1"/>
          <p:nvPr/>
        </p:nvSpPr>
        <p:spPr>
          <a:xfrm>
            <a:off x="6580336" y="2962587"/>
            <a:ext cx="5331755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=== 5 </a:t>
            </a:r>
            <a:r>
              <a:rPr lang="zh-TW" altLang="en-US" sz="1000" dirty="0"/>
              <a:t>維 </a:t>
            </a:r>
            <a:r>
              <a:rPr lang="en-US" altLang="zh-TW" sz="1000" dirty="0"/>
              <a:t>AMR </a:t>
            </a:r>
            <a:r>
              <a:rPr lang="zh-TW" altLang="en-US" sz="1000" dirty="0"/>
              <a:t>超參數 </a:t>
            </a:r>
            <a:r>
              <a:rPr lang="en-US" altLang="zh-TW" sz="1000" dirty="0"/>
              <a:t>- </a:t>
            </a:r>
            <a:r>
              <a:rPr lang="zh-TW" altLang="en-US" sz="1000" dirty="0"/>
              <a:t>帕累托最優解 </a:t>
            </a:r>
            <a:r>
              <a:rPr lang="en-US" altLang="zh-TW" sz="1000" dirty="0"/>
              <a:t>(</a:t>
            </a:r>
            <a:r>
              <a:rPr lang="zh-TW" altLang="en-US" sz="1000" dirty="0"/>
              <a:t>部分</a:t>
            </a:r>
            <a:r>
              <a:rPr lang="en-US" altLang="zh-TW" sz="1000" dirty="0"/>
              <a:t>) ===</a:t>
            </a:r>
          </a:p>
          <a:p>
            <a:r>
              <a:rPr lang="en-US" altLang="zh-TW" sz="1000" dirty="0"/>
              <a:t>  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 | 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q_r_ratio</a:t>
            </a:r>
            <a:r>
              <a:rPr lang="en-US" altLang="zh-TW" sz="1000" dirty="0"/>
              <a:t> || Exec Time | Risk Score</a:t>
            </a:r>
          </a:p>
          <a:p>
            <a:r>
              <a:rPr lang="en-US" altLang="zh-TW" sz="1000" dirty="0"/>
              <a:t>---------------------------------------------------------------------------</a:t>
            </a:r>
          </a:p>
          <a:p>
            <a:r>
              <a:rPr lang="en-US" altLang="zh-TW" sz="1000" dirty="0"/>
              <a:t>   2.80 |   1.14 |     9.99 |    0.52 |     998.5 ||     47.52 |       2.35</a:t>
            </a:r>
          </a:p>
          <a:p>
            <a:r>
              <a:rPr lang="en-US" altLang="zh-TW" sz="1000" dirty="0"/>
              <a:t>   3.00 |   2.00 |     1.73 |    0.69 |     993.5 ||     39.03 |       5.34</a:t>
            </a:r>
          </a:p>
          <a:p>
            <a:r>
              <a:rPr lang="en-US" altLang="zh-TW" sz="1000" dirty="0"/>
              <a:t>   2.51 |   0.92 |     9.99 |    0.52 |     998.7 ||     53.84 |       2.00</a:t>
            </a:r>
          </a:p>
          <a:p>
            <a:r>
              <a:rPr lang="en-US" altLang="zh-TW" sz="1000" dirty="0"/>
              <a:t>   2.26 |   0.82 |    10.00 |    0.50 |     999.7 ||     59.52 |       1.78</a:t>
            </a:r>
          </a:p>
          <a:p>
            <a:r>
              <a:rPr lang="en-US" altLang="zh-TW" sz="1000" dirty="0"/>
              <a:t>   1.75 |   0.60 |    10.00 |    0.50 |     999.1 ||     76.93 |       1.36</a:t>
            </a:r>
          </a:p>
          <a:p>
            <a:endParaRPr lang="en-US" altLang="zh-TW" sz="1000" dirty="0"/>
          </a:p>
          <a:p>
            <a:r>
              <a:rPr lang="en-US" altLang="zh-TW" sz="1000" dirty="0"/>
              <a:t>===================================================</a:t>
            </a:r>
          </a:p>
          <a:p>
            <a:r>
              <a:rPr lang="en-US" altLang="zh-TW" sz="1000" dirty="0"/>
              <a:t>★【</a:t>
            </a:r>
            <a:r>
              <a:rPr lang="zh-TW" altLang="en-US" sz="1000" dirty="0"/>
              <a:t>膝點法計算結果 </a:t>
            </a:r>
            <a:r>
              <a:rPr lang="en-US" altLang="zh-TW" sz="1000" dirty="0"/>
              <a:t>- </a:t>
            </a:r>
            <a:r>
              <a:rPr lang="zh-TW" altLang="en-US" sz="1000" dirty="0"/>
              <a:t>最佳折衷方案 </a:t>
            </a:r>
            <a:r>
              <a:rPr lang="en-US" altLang="zh-TW" sz="1000" dirty="0"/>
              <a:t>(Knee Point / Best Trade-off)】★</a:t>
            </a:r>
          </a:p>
          <a:p>
            <a:r>
              <a:rPr lang="en-US" altLang="zh-TW" sz="1000" dirty="0"/>
              <a:t>===================================================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最高車速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)     : 1.75 m/s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最大加速度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  : 0.60 m/s²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安全距離權重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w_safe</a:t>
            </a:r>
            <a:r>
              <a:rPr lang="en-US" altLang="zh-TW" sz="1000" dirty="0"/>
              <a:t>): 10.00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轉向靈敏度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)  : 0.50</a:t>
            </a:r>
          </a:p>
          <a:p>
            <a:r>
              <a:rPr lang="en-US" altLang="zh-TW" sz="1000" dirty="0"/>
              <a:t> ▸ MPC Q/R </a:t>
            </a:r>
            <a:r>
              <a:rPr lang="zh-TW" altLang="en-US" sz="1000" dirty="0"/>
              <a:t>比值         </a:t>
            </a:r>
            <a:r>
              <a:rPr lang="en-US" altLang="zh-TW" sz="1000" dirty="0"/>
              <a:t>: 999.1</a:t>
            </a:r>
          </a:p>
          <a:p>
            <a:r>
              <a:rPr lang="en-US" altLang="zh-TW" sz="1000" dirty="0"/>
              <a:t>---------------------------------------------</a:t>
            </a:r>
          </a:p>
          <a:p>
            <a:r>
              <a:rPr lang="en-US" altLang="zh-TW" sz="1000" dirty="0"/>
              <a:t> </a:t>
            </a:r>
            <a:r>
              <a:rPr lang="zh-TW" altLang="en-US" sz="1000" dirty="0"/>
              <a:t>🎯 執行時間 </a:t>
            </a:r>
            <a:r>
              <a:rPr lang="en-US" altLang="zh-TW" sz="1000" dirty="0"/>
              <a:t>(Exec Time) : 76.93 </a:t>
            </a:r>
            <a:r>
              <a:rPr lang="zh-TW" altLang="en-US" sz="1000" dirty="0"/>
              <a:t>秒</a:t>
            </a:r>
          </a:p>
          <a:p>
            <a:r>
              <a:rPr lang="zh-TW" altLang="en-US" sz="1000" dirty="0"/>
              <a:t> 🎯 碰撞風險 </a:t>
            </a:r>
            <a:r>
              <a:rPr lang="en-US" altLang="zh-TW" sz="1000" dirty="0"/>
              <a:t>(Risk Score): 1.36</a:t>
            </a:r>
          </a:p>
          <a:p>
            <a:r>
              <a:rPr lang="en-US" altLang="zh-TW" sz="1000" dirty="0"/>
              <a:t>===================================================</a:t>
            </a:r>
            <a:endParaRPr lang="zh-TW" altLang="en-US" sz="10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9D1D211-29D3-6549-E20F-A629DE237560}"/>
              </a:ext>
            </a:extLst>
          </p:cNvPr>
          <p:cNvSpPr txBox="1"/>
          <p:nvPr/>
        </p:nvSpPr>
        <p:spPr>
          <a:xfrm>
            <a:off x="349358" y="699083"/>
            <a:ext cx="5962749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# -----------------------------------------------------------</a:t>
            </a:r>
          </a:p>
          <a:p>
            <a:r>
              <a:rPr lang="en-US" altLang="zh-TW" sz="1000" dirty="0"/>
              <a:t># </a:t>
            </a:r>
            <a:r>
              <a:rPr lang="zh-TW" altLang="en-US" sz="1000" dirty="0"/>
              <a:t>模擬多維度 </a:t>
            </a:r>
            <a:r>
              <a:rPr lang="en-US" altLang="zh-TW" sz="1000" dirty="0"/>
              <a:t>AMR </a:t>
            </a:r>
            <a:r>
              <a:rPr lang="zh-TW" altLang="en-US" sz="1000" dirty="0"/>
              <a:t>黑盒評價方程 </a:t>
            </a:r>
            <a:r>
              <a:rPr lang="en-US" altLang="zh-TW" sz="1000" dirty="0"/>
              <a:t>(</a:t>
            </a:r>
            <a:r>
              <a:rPr lang="zh-TW" altLang="en-US" sz="1000" dirty="0"/>
              <a:t>綜合考慮物理動態與控制</a:t>
            </a:r>
            <a:r>
              <a:rPr lang="en-US" altLang="zh-TW" sz="1000" dirty="0"/>
              <a:t>):</a:t>
            </a:r>
          </a:p>
          <a:p>
            <a:r>
              <a:rPr lang="en-US" altLang="zh-TW" sz="1000" dirty="0"/>
              <a:t># -----------------------------------------------------------</a:t>
            </a:r>
          </a:p>
          <a:p>
            <a:r>
              <a:rPr lang="en-US" altLang="zh-TW" sz="1000" dirty="0"/>
              <a:t># 1. </a:t>
            </a:r>
            <a:r>
              <a:rPr lang="zh-TW" altLang="en-US" sz="1000" dirty="0"/>
              <a:t>執行時間 </a:t>
            </a:r>
            <a:r>
              <a:rPr lang="en-US" altLang="zh-TW" sz="1000" dirty="0"/>
              <a:t>Time: </a:t>
            </a:r>
            <a:r>
              <a:rPr lang="zh-TW" altLang="en-US" sz="1000" dirty="0"/>
              <a:t>受最高速度限制，但加速度大降速快；轉向太靈敏可能震盪耗時</a:t>
            </a:r>
          </a:p>
          <a:p>
            <a:r>
              <a:rPr lang="zh-TW" altLang="en-US" sz="1000" dirty="0"/>
              <a:t>        </a:t>
            </a:r>
            <a:r>
              <a:rPr lang="en-US" altLang="zh-TW" sz="1000" dirty="0" err="1"/>
              <a:t>execution_time</a:t>
            </a:r>
            <a:r>
              <a:rPr lang="en-US" altLang="zh-TW" sz="1000" dirty="0"/>
              <a:t> = (100.0 / 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) + (10.0 /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+ (0.3 *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) + (0.2 * 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)</a:t>
            </a:r>
          </a:p>
          <a:p>
            <a:r>
              <a:rPr lang="en-US" altLang="zh-TW" sz="1000" dirty="0"/>
              <a:t>        </a:t>
            </a:r>
          </a:p>
          <a:p>
            <a:r>
              <a:rPr lang="en-US" altLang="zh-TW" sz="1000" dirty="0"/>
              <a:t># 2. </a:t>
            </a:r>
            <a:r>
              <a:rPr lang="zh-TW" altLang="en-US" sz="1000" dirty="0"/>
              <a:t>碰撞與不平穩風險 </a:t>
            </a:r>
            <a:r>
              <a:rPr lang="en-US" altLang="zh-TW" sz="1000" dirty="0"/>
              <a:t>Risk: </a:t>
            </a:r>
            <a:r>
              <a:rPr lang="zh-TW" altLang="en-US" sz="1000" dirty="0"/>
              <a:t>速度與加速度越大風險越高；安全權重與 </a:t>
            </a:r>
            <a:r>
              <a:rPr lang="en-US" altLang="zh-TW" sz="1000" dirty="0"/>
              <a:t>MPC </a:t>
            </a:r>
            <a:r>
              <a:rPr lang="zh-TW" altLang="en-US" sz="1000" dirty="0"/>
              <a:t>比值越大越平穩</a:t>
            </a:r>
            <a:r>
              <a:rPr lang="en-US" altLang="zh-TW" sz="1000" dirty="0"/>
              <a:t>(</a:t>
            </a:r>
            <a:r>
              <a:rPr lang="zh-TW" altLang="en-US" sz="1000" dirty="0"/>
              <a:t>風險低</a:t>
            </a:r>
            <a:r>
              <a:rPr lang="en-US" altLang="zh-TW" sz="1000" dirty="0"/>
              <a:t>)</a:t>
            </a:r>
          </a:p>
          <a:p>
            <a:r>
              <a:rPr lang="en-US" altLang="zh-TW" sz="1000" dirty="0"/>
              <a:t>        </a:t>
            </a:r>
            <a:r>
              <a:rPr lang="en-US" altLang="zh-TW" sz="1000" dirty="0" err="1"/>
              <a:t>collision_risk</a:t>
            </a:r>
            <a:r>
              <a:rPr lang="en-US" altLang="zh-TW" sz="1000" dirty="0"/>
              <a:t> = (0.15 * (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 ** 2)) + (0.5 *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+ (5.0 /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) + (100.0 / </a:t>
            </a:r>
            <a:r>
              <a:rPr lang="en-US" altLang="zh-TW" sz="1000" dirty="0" err="1"/>
              <a:t>q_r_ratio</a:t>
            </a:r>
            <a:r>
              <a:rPr lang="en-US" altLang="zh-TW" sz="1000" dirty="0"/>
              <a:t>)</a:t>
            </a:r>
            <a:endParaRPr lang="zh-TW" altLang="en-US" sz="10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F9BDBA8-E723-D9C6-C165-B6245C7CC7BA}"/>
              </a:ext>
            </a:extLst>
          </p:cNvPr>
          <p:cNvSpPr txBox="1"/>
          <p:nvPr/>
        </p:nvSpPr>
        <p:spPr>
          <a:xfrm>
            <a:off x="6580337" y="912357"/>
            <a:ext cx="5331755" cy="17851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# === 【GA </a:t>
            </a:r>
            <a:r>
              <a:rPr lang="zh-TW" altLang="en-US" sz="1000" dirty="0"/>
              <a:t>參數可調區域</a:t>
            </a:r>
            <a:r>
              <a:rPr lang="en-US" altLang="zh-TW" sz="1000" dirty="0"/>
              <a:t>】 ===</a:t>
            </a:r>
          </a:p>
          <a:p>
            <a:r>
              <a:rPr lang="en-US" altLang="zh-TW" sz="1000" b="1" dirty="0">
                <a:solidFill>
                  <a:srgbClr val="00B0F0"/>
                </a:solidFill>
              </a:rPr>
              <a:t>POP_SIZE = 1000          # </a:t>
            </a:r>
            <a:r>
              <a:rPr lang="zh-TW" altLang="en-US" sz="1000" b="1" dirty="0">
                <a:solidFill>
                  <a:srgbClr val="00B0F0"/>
                </a:solidFill>
              </a:rPr>
              <a:t>族群大小 </a:t>
            </a:r>
            <a:r>
              <a:rPr lang="en-US" altLang="zh-TW" sz="1000" b="1" dirty="0">
                <a:solidFill>
                  <a:srgbClr val="00B0F0"/>
                </a:solidFill>
              </a:rPr>
              <a:t>(Population Size)</a:t>
            </a:r>
          </a:p>
          <a:p>
            <a:r>
              <a:rPr lang="en-US" altLang="zh-TW" sz="1000" dirty="0"/>
              <a:t>N_GEN = 50             # </a:t>
            </a:r>
            <a:r>
              <a:rPr lang="zh-TW" altLang="en-US" sz="1000" dirty="0"/>
              <a:t>演化代數 </a:t>
            </a:r>
            <a:r>
              <a:rPr lang="en-US" altLang="zh-TW" sz="1000" dirty="0"/>
              <a:t>(Generations)</a:t>
            </a:r>
          </a:p>
          <a:p>
            <a:endParaRPr lang="en-US" altLang="zh-TW" sz="1000" dirty="0"/>
          </a:p>
          <a:p>
            <a:r>
              <a:rPr lang="en-US" altLang="zh-TW" sz="1000" dirty="0"/>
              <a:t># SBX </a:t>
            </a:r>
            <a:r>
              <a:rPr lang="zh-TW" altLang="en-US" sz="1000" dirty="0"/>
              <a:t>交叉算子設定 </a:t>
            </a:r>
            <a:r>
              <a:rPr lang="en-US" altLang="zh-TW" sz="1000" dirty="0"/>
              <a:t>(Simulated Binary Crossover)</a:t>
            </a:r>
          </a:p>
          <a:p>
            <a:r>
              <a:rPr lang="en-US" altLang="zh-TW" sz="1000" dirty="0"/>
              <a:t>CROSSOVER_PROB = 0.9   # </a:t>
            </a:r>
            <a:r>
              <a:rPr lang="zh-TW" altLang="en-US" sz="1000" dirty="0"/>
              <a:t>交叉機率 </a:t>
            </a:r>
            <a:r>
              <a:rPr lang="en-US" altLang="zh-TW" sz="1000" dirty="0"/>
              <a:t>(</a:t>
            </a:r>
            <a:r>
              <a:rPr lang="zh-TW" altLang="en-US" sz="1000" dirty="0"/>
              <a:t>預設 </a:t>
            </a:r>
            <a:r>
              <a:rPr lang="en-US" altLang="zh-TW" sz="1000" dirty="0"/>
              <a:t>0.9)</a:t>
            </a:r>
          </a:p>
          <a:p>
            <a:r>
              <a:rPr lang="en-US" altLang="zh-TW" sz="1000" dirty="0"/>
              <a:t>ETA_C = 15.0           # </a:t>
            </a:r>
            <a:r>
              <a:rPr lang="zh-TW" altLang="en-US" sz="1000" dirty="0"/>
              <a:t>交叉分佈指數 </a:t>
            </a:r>
            <a:r>
              <a:rPr lang="el-GR" altLang="zh-TW" sz="1000" dirty="0"/>
              <a:t>η_</a:t>
            </a:r>
            <a:r>
              <a:rPr lang="en-US" altLang="zh-TW" sz="1000" dirty="0"/>
              <a:t>c (</a:t>
            </a:r>
            <a:r>
              <a:rPr lang="zh-TW" altLang="en-US" sz="1000" dirty="0"/>
              <a:t>值越大搜尋越保守，值越小搜尋越激進</a:t>
            </a:r>
            <a:r>
              <a:rPr lang="en-US" altLang="zh-TW" sz="1000" dirty="0"/>
              <a:t>)</a:t>
            </a:r>
          </a:p>
          <a:p>
            <a:endParaRPr lang="en-US" altLang="zh-TW" sz="1000" dirty="0"/>
          </a:p>
          <a:p>
            <a:r>
              <a:rPr lang="en-US" altLang="zh-TW" sz="1000" dirty="0"/>
              <a:t># </a:t>
            </a:r>
            <a:r>
              <a:rPr lang="zh-TW" altLang="en-US" sz="1000" dirty="0"/>
              <a:t>多項式突變算子設定 </a:t>
            </a:r>
            <a:r>
              <a:rPr lang="en-US" altLang="zh-TW" sz="1000" dirty="0"/>
              <a:t>(Polynomial Mutation)</a:t>
            </a:r>
          </a:p>
          <a:p>
            <a:r>
              <a:rPr lang="en-US" altLang="zh-TW" sz="1000" dirty="0"/>
              <a:t>MUTATION_PROB = 0.2    # </a:t>
            </a:r>
            <a:r>
              <a:rPr lang="zh-TW" altLang="en-US" sz="1000" dirty="0"/>
              <a:t>突變機率 </a:t>
            </a:r>
            <a:r>
              <a:rPr lang="en-US" altLang="zh-TW" sz="1000" dirty="0"/>
              <a:t>(</a:t>
            </a:r>
            <a:r>
              <a:rPr lang="zh-TW" altLang="en-US" sz="1000" dirty="0"/>
              <a:t>建議設為 </a:t>
            </a:r>
            <a:r>
              <a:rPr lang="en-US" altLang="zh-TW" sz="1000" dirty="0"/>
              <a:t>1/</a:t>
            </a:r>
            <a:r>
              <a:rPr lang="en-US" altLang="zh-TW" sz="1000" dirty="0" err="1"/>
              <a:t>n_var</a:t>
            </a:r>
            <a:r>
              <a:rPr lang="en-US" altLang="zh-TW" sz="1000" dirty="0"/>
              <a:t> = 1/5 = 0.2)</a:t>
            </a:r>
          </a:p>
          <a:p>
            <a:r>
              <a:rPr lang="en-US" altLang="zh-TW" sz="1000" dirty="0"/>
              <a:t>ETA_M = 20.0           # </a:t>
            </a:r>
            <a:r>
              <a:rPr lang="zh-TW" altLang="en-US" sz="1000" dirty="0"/>
              <a:t>突變分佈指數 </a:t>
            </a:r>
            <a:r>
              <a:rPr lang="el-GR" altLang="zh-TW" sz="1000" dirty="0"/>
              <a:t>η_</a:t>
            </a:r>
            <a:r>
              <a:rPr lang="en-US" altLang="zh-TW" sz="1000" dirty="0"/>
              <a:t>m (</a:t>
            </a:r>
            <a:r>
              <a:rPr lang="zh-TW" altLang="en-US" sz="1000" dirty="0"/>
              <a:t>值越大擾動幅度越小</a:t>
            </a:r>
            <a:r>
              <a:rPr lang="en-US" altLang="zh-TW" sz="1000" dirty="0"/>
              <a:t>/</a:t>
            </a:r>
            <a:r>
              <a:rPr lang="zh-TW" altLang="en-US" sz="1000" dirty="0"/>
              <a:t>精細，值越小擾動越劇烈</a:t>
            </a:r>
            <a:r>
              <a:rPr lang="en-US" altLang="zh-TW" sz="1000" dirty="0"/>
              <a:t>)</a:t>
            </a:r>
            <a:endParaRPr lang="zh-TW" altLang="en-US" sz="1000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17569A24-7ECC-CB47-C274-C272C5ADE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59" y="2215116"/>
            <a:ext cx="6012436" cy="4332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156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04B68-C3A0-17BE-80F1-FFF33F608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9A416E-4B03-ED2E-C141-0E1C1CF9B17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5B2D0110-EB7F-E794-6D7B-3840696BB37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DB6B5C55-988F-2837-FFB5-C6FE38D91A6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lvl="0">
              <a:defRPr/>
            </a:pPr>
            <a:r>
              <a:rPr lang="zh-TW" altLang="en-US" sz="2900" dirty="0">
                <a:solidFill>
                  <a:srgbClr val="FFFFFF"/>
                </a:solidFill>
              </a:rPr>
              <a:t>帕累托前緣曲線結果與最佳化超參數結果呈現 </a:t>
            </a:r>
            <a:r>
              <a:rPr lang="en-US" altLang="zh-TW" sz="2900" dirty="0">
                <a:solidFill>
                  <a:srgbClr val="FFFFFF"/>
                </a:solidFill>
              </a:rPr>
              <a:t>(3)</a:t>
            </a: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5A24E77-9B4C-E339-4F10-C7EE771A0C1D}"/>
              </a:ext>
            </a:extLst>
          </p:cNvPr>
          <p:cNvSpPr txBox="1"/>
          <p:nvPr/>
        </p:nvSpPr>
        <p:spPr>
          <a:xfrm>
            <a:off x="6580336" y="2962587"/>
            <a:ext cx="5331755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=== 5 </a:t>
            </a:r>
            <a:r>
              <a:rPr lang="zh-TW" altLang="en-US" sz="1000" dirty="0"/>
              <a:t>維 </a:t>
            </a:r>
            <a:r>
              <a:rPr lang="en-US" altLang="zh-TW" sz="1000" dirty="0"/>
              <a:t>AMR </a:t>
            </a:r>
            <a:r>
              <a:rPr lang="zh-TW" altLang="en-US" sz="1000" dirty="0"/>
              <a:t>超參數 </a:t>
            </a:r>
            <a:r>
              <a:rPr lang="en-US" altLang="zh-TW" sz="1000" dirty="0"/>
              <a:t>- </a:t>
            </a:r>
            <a:r>
              <a:rPr lang="zh-TW" altLang="en-US" sz="1000" dirty="0"/>
              <a:t>帕累托最優解 </a:t>
            </a:r>
            <a:r>
              <a:rPr lang="en-US" altLang="zh-TW" sz="1000" dirty="0"/>
              <a:t>(</a:t>
            </a:r>
            <a:r>
              <a:rPr lang="zh-TW" altLang="en-US" sz="1000" dirty="0"/>
              <a:t>部分</a:t>
            </a:r>
            <a:r>
              <a:rPr lang="en-US" altLang="zh-TW" sz="1000" dirty="0"/>
              <a:t>) ===</a:t>
            </a:r>
          </a:p>
          <a:p>
            <a:r>
              <a:rPr lang="en-US" altLang="zh-TW" sz="1000" dirty="0"/>
              <a:t>  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 | 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q_r_ratio</a:t>
            </a:r>
            <a:r>
              <a:rPr lang="en-US" altLang="zh-TW" sz="1000" dirty="0"/>
              <a:t> || Exec Time | Risk Score</a:t>
            </a:r>
          </a:p>
          <a:p>
            <a:r>
              <a:rPr lang="en-US" altLang="zh-TW" sz="1000" dirty="0"/>
              <a:t>---------------------------------------------------------------------------</a:t>
            </a:r>
          </a:p>
          <a:p>
            <a:r>
              <a:rPr lang="en-US" altLang="zh-TW" sz="1000" dirty="0"/>
              <a:t>   2.14 |   0.94 |     9.98 |    0.53 |     997.8 ||     60.53 |       1.76</a:t>
            </a:r>
          </a:p>
          <a:p>
            <a:r>
              <a:rPr lang="en-US" altLang="zh-TW" sz="1000" dirty="0"/>
              <a:t>   1.08 |   0.38 |    10.00 |    0.52 |     990.1 ||    122.17 |       0.96</a:t>
            </a:r>
          </a:p>
          <a:p>
            <a:r>
              <a:rPr lang="en-US" altLang="zh-TW" sz="1000" dirty="0"/>
              <a:t>   2.33 |   0.97 |    10.00 |    0.53 |     994.4 ||     56.28 |       1.90</a:t>
            </a:r>
          </a:p>
          <a:p>
            <a:r>
              <a:rPr lang="en-US" altLang="zh-TW" sz="1000" dirty="0"/>
              <a:t>   2.91 |   1.45 |     9.98 |    0.63 |     983.7 ||     44.34 |       2.60</a:t>
            </a:r>
          </a:p>
          <a:p>
            <a:r>
              <a:rPr lang="en-US" altLang="zh-TW" sz="1000" dirty="0"/>
              <a:t>   0.50 |   0.11 |    10.00 |    0.53 |     988.6 ||    297.22 |       0.69</a:t>
            </a:r>
          </a:p>
          <a:p>
            <a:endParaRPr lang="en-US" altLang="zh-TW" sz="1000" dirty="0"/>
          </a:p>
          <a:p>
            <a:r>
              <a:rPr lang="en-US" altLang="zh-TW" sz="1000" dirty="0"/>
              <a:t>===================================================</a:t>
            </a:r>
          </a:p>
          <a:p>
            <a:r>
              <a:rPr lang="en-US" altLang="zh-TW" sz="1000" dirty="0"/>
              <a:t>★【</a:t>
            </a:r>
            <a:r>
              <a:rPr lang="zh-TW" altLang="en-US" sz="1000" dirty="0"/>
              <a:t>膝點法計算結果 </a:t>
            </a:r>
            <a:r>
              <a:rPr lang="en-US" altLang="zh-TW" sz="1000" dirty="0"/>
              <a:t>- </a:t>
            </a:r>
            <a:r>
              <a:rPr lang="zh-TW" altLang="en-US" sz="1000" dirty="0"/>
              <a:t>最佳折衷方案 </a:t>
            </a:r>
            <a:r>
              <a:rPr lang="en-US" altLang="zh-TW" sz="1000" dirty="0"/>
              <a:t>(Knee Point / Best Trade-off)】★</a:t>
            </a:r>
          </a:p>
          <a:p>
            <a:r>
              <a:rPr lang="en-US" altLang="zh-TW" sz="1000" dirty="0"/>
              <a:t>===================================================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最高車速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)     : 2.12 m/s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最大加速度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  : 0.67 m/s²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安全距離權重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w_safe</a:t>
            </a:r>
            <a:r>
              <a:rPr lang="en-US" altLang="zh-TW" sz="1000" dirty="0"/>
              <a:t>): 9.99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轉向靈敏度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)  : 0.53</a:t>
            </a:r>
          </a:p>
          <a:p>
            <a:r>
              <a:rPr lang="en-US" altLang="zh-TW" sz="1000" dirty="0"/>
              <a:t> ▸ MPC Q/R </a:t>
            </a:r>
            <a:r>
              <a:rPr lang="zh-TW" altLang="en-US" sz="1000" dirty="0"/>
              <a:t>比值         </a:t>
            </a:r>
            <a:r>
              <a:rPr lang="en-US" altLang="zh-TW" sz="1000" dirty="0"/>
              <a:t>: 988.7</a:t>
            </a:r>
          </a:p>
          <a:p>
            <a:r>
              <a:rPr lang="en-US" altLang="zh-TW" sz="1000" dirty="0"/>
              <a:t>---------------------------------------------</a:t>
            </a:r>
          </a:p>
          <a:p>
            <a:r>
              <a:rPr lang="en-US" altLang="zh-TW" sz="1000" dirty="0"/>
              <a:t> </a:t>
            </a:r>
            <a:r>
              <a:rPr lang="zh-TW" altLang="en-US" sz="1000" dirty="0"/>
              <a:t>🎯 執行時間 </a:t>
            </a:r>
            <a:r>
              <a:rPr lang="en-US" altLang="zh-TW" sz="1000" dirty="0"/>
              <a:t>(Exec Time) : 65.03 </a:t>
            </a:r>
            <a:r>
              <a:rPr lang="zh-TW" altLang="en-US" sz="1000" dirty="0"/>
              <a:t>秒</a:t>
            </a:r>
          </a:p>
          <a:p>
            <a:r>
              <a:rPr lang="zh-TW" altLang="en-US" sz="1000" dirty="0"/>
              <a:t> 🎯 碰撞風險 </a:t>
            </a:r>
            <a:r>
              <a:rPr lang="en-US" altLang="zh-TW" sz="1000" dirty="0"/>
              <a:t>(Risk Score): 1.61</a:t>
            </a:r>
          </a:p>
          <a:p>
            <a:r>
              <a:rPr lang="en-US" altLang="zh-TW" sz="1000" dirty="0"/>
              <a:t>===================================================</a:t>
            </a:r>
            <a:endParaRPr lang="zh-TW" altLang="en-US" sz="10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E2F8DD2-6EDB-B0D0-AFD4-D2CF7ED39A24}"/>
              </a:ext>
            </a:extLst>
          </p:cNvPr>
          <p:cNvSpPr txBox="1"/>
          <p:nvPr/>
        </p:nvSpPr>
        <p:spPr>
          <a:xfrm>
            <a:off x="349358" y="699083"/>
            <a:ext cx="5962749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# -----------------------------------------------------------</a:t>
            </a:r>
          </a:p>
          <a:p>
            <a:r>
              <a:rPr lang="en-US" altLang="zh-TW" sz="1000" dirty="0"/>
              <a:t># </a:t>
            </a:r>
            <a:r>
              <a:rPr lang="zh-TW" altLang="en-US" sz="1000" dirty="0"/>
              <a:t>模擬多維度 </a:t>
            </a:r>
            <a:r>
              <a:rPr lang="en-US" altLang="zh-TW" sz="1000" dirty="0"/>
              <a:t>AMR </a:t>
            </a:r>
            <a:r>
              <a:rPr lang="zh-TW" altLang="en-US" sz="1000" dirty="0"/>
              <a:t>黑盒評價方程 </a:t>
            </a:r>
            <a:r>
              <a:rPr lang="en-US" altLang="zh-TW" sz="1000" dirty="0"/>
              <a:t>(</a:t>
            </a:r>
            <a:r>
              <a:rPr lang="zh-TW" altLang="en-US" sz="1000" dirty="0"/>
              <a:t>綜合考慮物理動態與控制</a:t>
            </a:r>
            <a:r>
              <a:rPr lang="en-US" altLang="zh-TW" sz="1000" dirty="0"/>
              <a:t>):</a:t>
            </a:r>
          </a:p>
          <a:p>
            <a:r>
              <a:rPr lang="en-US" altLang="zh-TW" sz="1000" dirty="0"/>
              <a:t># -----------------------------------------------------------</a:t>
            </a:r>
          </a:p>
          <a:p>
            <a:r>
              <a:rPr lang="en-US" altLang="zh-TW" sz="1000" dirty="0"/>
              <a:t># 1. </a:t>
            </a:r>
            <a:r>
              <a:rPr lang="zh-TW" altLang="en-US" sz="1000" dirty="0"/>
              <a:t>執行時間 </a:t>
            </a:r>
            <a:r>
              <a:rPr lang="en-US" altLang="zh-TW" sz="1000" dirty="0"/>
              <a:t>Time: </a:t>
            </a:r>
            <a:r>
              <a:rPr lang="zh-TW" altLang="en-US" sz="1000" dirty="0"/>
              <a:t>受最高速度限制，但加速度大降速快；轉向太靈敏可能震盪耗時</a:t>
            </a:r>
          </a:p>
          <a:p>
            <a:r>
              <a:rPr lang="zh-TW" altLang="en-US" sz="1000" dirty="0"/>
              <a:t>        </a:t>
            </a:r>
            <a:r>
              <a:rPr lang="en-US" altLang="zh-TW" sz="1000" dirty="0" err="1"/>
              <a:t>execution_time</a:t>
            </a:r>
            <a:r>
              <a:rPr lang="en-US" altLang="zh-TW" sz="1000" dirty="0"/>
              <a:t> = (100.0 / 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) + (10.0 /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+ (0.3 *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) + (0.2 * 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)</a:t>
            </a:r>
          </a:p>
          <a:p>
            <a:r>
              <a:rPr lang="en-US" altLang="zh-TW" sz="1000" dirty="0"/>
              <a:t>        </a:t>
            </a:r>
          </a:p>
          <a:p>
            <a:r>
              <a:rPr lang="en-US" altLang="zh-TW" sz="1000" dirty="0"/>
              <a:t># 2. </a:t>
            </a:r>
            <a:r>
              <a:rPr lang="zh-TW" altLang="en-US" sz="1000" dirty="0"/>
              <a:t>碰撞與不平穩風險 </a:t>
            </a:r>
            <a:r>
              <a:rPr lang="en-US" altLang="zh-TW" sz="1000" dirty="0"/>
              <a:t>Risk: </a:t>
            </a:r>
            <a:r>
              <a:rPr lang="zh-TW" altLang="en-US" sz="1000" dirty="0"/>
              <a:t>速度與加速度越大風險越高；安全權重與 </a:t>
            </a:r>
            <a:r>
              <a:rPr lang="en-US" altLang="zh-TW" sz="1000" dirty="0"/>
              <a:t>MPC </a:t>
            </a:r>
            <a:r>
              <a:rPr lang="zh-TW" altLang="en-US" sz="1000" dirty="0"/>
              <a:t>比值越大越平穩</a:t>
            </a:r>
            <a:r>
              <a:rPr lang="en-US" altLang="zh-TW" sz="1000" dirty="0"/>
              <a:t>(</a:t>
            </a:r>
            <a:r>
              <a:rPr lang="zh-TW" altLang="en-US" sz="1000" dirty="0"/>
              <a:t>風險低</a:t>
            </a:r>
            <a:r>
              <a:rPr lang="en-US" altLang="zh-TW" sz="1000" dirty="0"/>
              <a:t>)</a:t>
            </a:r>
          </a:p>
          <a:p>
            <a:r>
              <a:rPr lang="en-US" altLang="zh-TW" sz="1000" dirty="0"/>
              <a:t>        </a:t>
            </a:r>
            <a:r>
              <a:rPr lang="en-US" altLang="zh-TW" sz="1000" dirty="0" err="1"/>
              <a:t>collision_risk</a:t>
            </a:r>
            <a:r>
              <a:rPr lang="en-US" altLang="zh-TW" sz="1000" dirty="0"/>
              <a:t> = (0.15 * (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 ** 2)) + (0.5 *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+ (5.0 /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) + (100.0 / </a:t>
            </a:r>
            <a:r>
              <a:rPr lang="en-US" altLang="zh-TW" sz="1000" dirty="0" err="1"/>
              <a:t>q_r_ratio</a:t>
            </a:r>
            <a:r>
              <a:rPr lang="en-US" altLang="zh-TW" sz="1000" dirty="0"/>
              <a:t>)</a:t>
            </a:r>
            <a:endParaRPr lang="zh-TW" altLang="en-US" sz="10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FB8CA3D-5898-61FC-5267-7CC3C52A8024}"/>
              </a:ext>
            </a:extLst>
          </p:cNvPr>
          <p:cNvSpPr txBox="1"/>
          <p:nvPr/>
        </p:nvSpPr>
        <p:spPr>
          <a:xfrm>
            <a:off x="6580337" y="912357"/>
            <a:ext cx="5331755" cy="17851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# === 【GA </a:t>
            </a:r>
            <a:r>
              <a:rPr lang="zh-TW" altLang="en-US" sz="1000" dirty="0"/>
              <a:t>參數可調區域</a:t>
            </a:r>
            <a:r>
              <a:rPr lang="en-US" altLang="zh-TW" sz="1000" dirty="0"/>
              <a:t>】 ===</a:t>
            </a:r>
          </a:p>
          <a:p>
            <a:r>
              <a:rPr lang="en-US" altLang="zh-TW" sz="1000" dirty="0"/>
              <a:t>POP_SIZE = 60          # </a:t>
            </a:r>
            <a:r>
              <a:rPr lang="zh-TW" altLang="en-US" sz="1000" dirty="0"/>
              <a:t>族群大小 </a:t>
            </a:r>
            <a:r>
              <a:rPr lang="en-US" altLang="zh-TW" sz="1000" dirty="0"/>
              <a:t>(Population Size)</a:t>
            </a:r>
          </a:p>
          <a:p>
            <a:r>
              <a:rPr lang="en-US" altLang="zh-TW" sz="1000" b="1" dirty="0">
                <a:solidFill>
                  <a:srgbClr val="00B0F0"/>
                </a:solidFill>
              </a:rPr>
              <a:t>N_GEN = 100             # </a:t>
            </a:r>
            <a:r>
              <a:rPr lang="zh-TW" altLang="en-US" sz="1000" b="1" dirty="0">
                <a:solidFill>
                  <a:srgbClr val="00B0F0"/>
                </a:solidFill>
              </a:rPr>
              <a:t>演化代數 </a:t>
            </a:r>
            <a:r>
              <a:rPr lang="en-US" altLang="zh-TW" sz="1000" b="1" dirty="0">
                <a:solidFill>
                  <a:srgbClr val="00B0F0"/>
                </a:solidFill>
              </a:rPr>
              <a:t>(Generations)</a:t>
            </a:r>
          </a:p>
          <a:p>
            <a:endParaRPr lang="en-US" altLang="zh-TW" sz="1000" dirty="0"/>
          </a:p>
          <a:p>
            <a:r>
              <a:rPr lang="en-US" altLang="zh-TW" sz="1000" dirty="0"/>
              <a:t># SBX </a:t>
            </a:r>
            <a:r>
              <a:rPr lang="zh-TW" altLang="en-US" sz="1000" dirty="0"/>
              <a:t>交叉算子設定 </a:t>
            </a:r>
            <a:r>
              <a:rPr lang="en-US" altLang="zh-TW" sz="1000" dirty="0"/>
              <a:t>(Simulated Binary Crossover)</a:t>
            </a:r>
          </a:p>
          <a:p>
            <a:r>
              <a:rPr lang="en-US" altLang="zh-TW" sz="1000" dirty="0"/>
              <a:t>CROSSOVER_PROB = 0.9   # </a:t>
            </a:r>
            <a:r>
              <a:rPr lang="zh-TW" altLang="en-US" sz="1000" dirty="0"/>
              <a:t>交叉機率 </a:t>
            </a:r>
            <a:r>
              <a:rPr lang="en-US" altLang="zh-TW" sz="1000" dirty="0"/>
              <a:t>(</a:t>
            </a:r>
            <a:r>
              <a:rPr lang="zh-TW" altLang="en-US" sz="1000" dirty="0"/>
              <a:t>預設 </a:t>
            </a:r>
            <a:r>
              <a:rPr lang="en-US" altLang="zh-TW" sz="1000" dirty="0"/>
              <a:t>0.9)</a:t>
            </a:r>
          </a:p>
          <a:p>
            <a:r>
              <a:rPr lang="en-US" altLang="zh-TW" sz="1000" dirty="0"/>
              <a:t>ETA_C = 15.0           # </a:t>
            </a:r>
            <a:r>
              <a:rPr lang="zh-TW" altLang="en-US" sz="1000" dirty="0"/>
              <a:t>交叉分佈指數 </a:t>
            </a:r>
            <a:r>
              <a:rPr lang="el-GR" altLang="zh-TW" sz="1000" dirty="0"/>
              <a:t>η_</a:t>
            </a:r>
            <a:r>
              <a:rPr lang="en-US" altLang="zh-TW" sz="1000" dirty="0"/>
              <a:t>c (</a:t>
            </a:r>
            <a:r>
              <a:rPr lang="zh-TW" altLang="en-US" sz="1000" dirty="0"/>
              <a:t>值越大搜尋越保守，值越小搜尋越激進</a:t>
            </a:r>
            <a:r>
              <a:rPr lang="en-US" altLang="zh-TW" sz="1000" dirty="0"/>
              <a:t>)</a:t>
            </a:r>
          </a:p>
          <a:p>
            <a:endParaRPr lang="en-US" altLang="zh-TW" sz="1000" dirty="0"/>
          </a:p>
          <a:p>
            <a:r>
              <a:rPr lang="en-US" altLang="zh-TW" sz="1000" dirty="0"/>
              <a:t># </a:t>
            </a:r>
            <a:r>
              <a:rPr lang="zh-TW" altLang="en-US" sz="1000" dirty="0"/>
              <a:t>多項式突變算子設定 </a:t>
            </a:r>
            <a:r>
              <a:rPr lang="en-US" altLang="zh-TW" sz="1000" dirty="0"/>
              <a:t>(Polynomial Mutation)</a:t>
            </a:r>
          </a:p>
          <a:p>
            <a:r>
              <a:rPr lang="en-US" altLang="zh-TW" sz="1000" dirty="0"/>
              <a:t>MUTATION_PROB = 0.2    # </a:t>
            </a:r>
            <a:r>
              <a:rPr lang="zh-TW" altLang="en-US" sz="1000" dirty="0"/>
              <a:t>突變機率 </a:t>
            </a:r>
            <a:r>
              <a:rPr lang="en-US" altLang="zh-TW" sz="1000" dirty="0"/>
              <a:t>(</a:t>
            </a:r>
            <a:r>
              <a:rPr lang="zh-TW" altLang="en-US" sz="1000" dirty="0"/>
              <a:t>建議設為 </a:t>
            </a:r>
            <a:r>
              <a:rPr lang="en-US" altLang="zh-TW" sz="1000" dirty="0"/>
              <a:t>1/</a:t>
            </a:r>
            <a:r>
              <a:rPr lang="en-US" altLang="zh-TW" sz="1000" dirty="0" err="1"/>
              <a:t>n_var</a:t>
            </a:r>
            <a:r>
              <a:rPr lang="en-US" altLang="zh-TW" sz="1000" dirty="0"/>
              <a:t> = 1/5 = 0.2)</a:t>
            </a:r>
          </a:p>
          <a:p>
            <a:r>
              <a:rPr lang="en-US" altLang="zh-TW" sz="1000" dirty="0"/>
              <a:t>ETA_M = 20.0           # </a:t>
            </a:r>
            <a:r>
              <a:rPr lang="zh-TW" altLang="en-US" sz="1000" dirty="0"/>
              <a:t>突變分佈指數 </a:t>
            </a:r>
            <a:r>
              <a:rPr lang="el-GR" altLang="zh-TW" sz="1000" dirty="0"/>
              <a:t>η_</a:t>
            </a:r>
            <a:r>
              <a:rPr lang="en-US" altLang="zh-TW" sz="1000" dirty="0"/>
              <a:t>m (</a:t>
            </a:r>
            <a:r>
              <a:rPr lang="zh-TW" altLang="en-US" sz="1000" dirty="0"/>
              <a:t>值越大擾動幅度越小</a:t>
            </a:r>
            <a:r>
              <a:rPr lang="en-US" altLang="zh-TW" sz="1000" dirty="0"/>
              <a:t>/</a:t>
            </a:r>
            <a:r>
              <a:rPr lang="zh-TW" altLang="en-US" sz="1000" dirty="0"/>
              <a:t>精細，值越小擾動越劇烈</a:t>
            </a:r>
            <a:r>
              <a:rPr lang="en-US" altLang="zh-TW" sz="1000" dirty="0"/>
              <a:t>)</a:t>
            </a:r>
            <a:endParaRPr lang="zh-TW" altLang="en-US" sz="1000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548165CB-819B-D2EA-0F9C-D9CDE2C95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59" y="2235503"/>
            <a:ext cx="5983722" cy="431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0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33C93-5B5B-3A67-7FD3-6DF9785E1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E42BAC-3A20-086E-B1ED-949BE87C59E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0D7DC08A-59F8-98EE-A5AA-F2CFE6E1601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5E2F8661-426C-7D7A-6A1D-57A24BF80DB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lvl="0">
              <a:defRPr/>
            </a:pPr>
            <a:r>
              <a:rPr lang="zh-TW" altLang="en-US" sz="2900" dirty="0">
                <a:solidFill>
                  <a:srgbClr val="FFFFFF"/>
                </a:solidFill>
              </a:rPr>
              <a:t>帕累托前緣曲線結果與最佳化超參數結果呈現 </a:t>
            </a:r>
            <a:r>
              <a:rPr lang="en-US" altLang="zh-TW" sz="2900" dirty="0">
                <a:solidFill>
                  <a:srgbClr val="FFFFFF"/>
                </a:solidFill>
              </a:rPr>
              <a:t>(4)</a:t>
            </a: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F22066D-57C5-7534-A7A9-D4D70C31F235}"/>
              </a:ext>
            </a:extLst>
          </p:cNvPr>
          <p:cNvSpPr txBox="1"/>
          <p:nvPr/>
        </p:nvSpPr>
        <p:spPr>
          <a:xfrm>
            <a:off x="6580336" y="2962587"/>
            <a:ext cx="5331755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=== 5 </a:t>
            </a:r>
            <a:r>
              <a:rPr lang="zh-TW" altLang="en-US" sz="1000" dirty="0"/>
              <a:t>維 </a:t>
            </a:r>
            <a:r>
              <a:rPr lang="en-US" altLang="zh-TW" sz="1000" dirty="0"/>
              <a:t>AMR </a:t>
            </a:r>
            <a:r>
              <a:rPr lang="zh-TW" altLang="en-US" sz="1000" dirty="0"/>
              <a:t>超參數 </a:t>
            </a:r>
            <a:r>
              <a:rPr lang="en-US" altLang="zh-TW" sz="1000" dirty="0"/>
              <a:t>- </a:t>
            </a:r>
            <a:r>
              <a:rPr lang="zh-TW" altLang="en-US" sz="1000" dirty="0"/>
              <a:t>帕累托最優解 </a:t>
            </a:r>
            <a:r>
              <a:rPr lang="en-US" altLang="zh-TW" sz="1000" dirty="0"/>
              <a:t>(</a:t>
            </a:r>
            <a:r>
              <a:rPr lang="zh-TW" altLang="en-US" sz="1000" dirty="0"/>
              <a:t>部分</a:t>
            </a:r>
            <a:r>
              <a:rPr lang="en-US" altLang="zh-TW" sz="1000" dirty="0"/>
              <a:t>) ===</a:t>
            </a:r>
          </a:p>
          <a:p>
            <a:r>
              <a:rPr lang="en-US" altLang="zh-TW" sz="1000" dirty="0"/>
              <a:t>  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 | 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q_r_ratio</a:t>
            </a:r>
            <a:r>
              <a:rPr lang="en-US" altLang="zh-TW" sz="1000" dirty="0"/>
              <a:t> || Exec Time | Risk Score</a:t>
            </a:r>
          </a:p>
          <a:p>
            <a:r>
              <a:rPr lang="en-US" altLang="zh-TW" sz="1000" dirty="0"/>
              <a:t>---------------------------------------------------------------------------</a:t>
            </a:r>
          </a:p>
          <a:p>
            <a:r>
              <a:rPr lang="en-US" altLang="zh-TW" sz="1000" dirty="0"/>
              <a:t>   1.81 |   0.66 |     9.92 |    0.58 |     999.0 ||     73.60 |       1.42</a:t>
            </a:r>
          </a:p>
          <a:p>
            <a:r>
              <a:rPr lang="en-US" altLang="zh-TW" sz="1000" dirty="0"/>
              <a:t>   2.94 |   0.92 |     9.94 |    0.58 |     999.2 ||     48.05 |       2.36</a:t>
            </a:r>
          </a:p>
          <a:p>
            <a:r>
              <a:rPr lang="en-US" altLang="zh-TW" sz="1000" dirty="0"/>
              <a:t>   0.88 |   0.13 |     9.92 |    0.57 |     999.2 ||    196.68 |       0.78</a:t>
            </a:r>
          </a:p>
          <a:p>
            <a:r>
              <a:rPr lang="en-US" altLang="zh-TW" sz="1000" dirty="0"/>
              <a:t>   2.15 |   0.72 |     9.71 |    0.58 |     956.4 ||     63.46 |       1.67</a:t>
            </a:r>
          </a:p>
          <a:p>
            <a:r>
              <a:rPr lang="en-US" altLang="zh-TW" sz="1000" dirty="0"/>
              <a:t>   1.81 |   0.92 |     9.94 |    0.52 |     999.0 ||     69.27 |       1.55</a:t>
            </a:r>
          </a:p>
          <a:p>
            <a:endParaRPr lang="en-US" altLang="zh-TW" sz="1000" dirty="0"/>
          </a:p>
          <a:p>
            <a:r>
              <a:rPr lang="en-US" altLang="zh-TW" sz="1000" dirty="0"/>
              <a:t>===================================================</a:t>
            </a:r>
          </a:p>
          <a:p>
            <a:r>
              <a:rPr lang="en-US" altLang="zh-TW" sz="1000" dirty="0"/>
              <a:t>★【</a:t>
            </a:r>
            <a:r>
              <a:rPr lang="zh-TW" altLang="en-US" sz="1000" dirty="0"/>
              <a:t>膝點法計算結果 </a:t>
            </a:r>
            <a:r>
              <a:rPr lang="en-US" altLang="zh-TW" sz="1000" dirty="0"/>
              <a:t>- </a:t>
            </a:r>
            <a:r>
              <a:rPr lang="zh-TW" altLang="en-US" sz="1000" dirty="0"/>
              <a:t>最佳折衷方案 </a:t>
            </a:r>
            <a:r>
              <a:rPr lang="en-US" altLang="zh-TW" sz="1000" dirty="0"/>
              <a:t>(Knee Point / Best Trade-off)】★</a:t>
            </a:r>
          </a:p>
          <a:p>
            <a:r>
              <a:rPr lang="en-US" altLang="zh-TW" sz="1000" dirty="0"/>
              <a:t>===================================================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最高車速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)     : 1.81 m/s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最大加速度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  : 0.66 m/s²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安全距離權重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w_safe</a:t>
            </a:r>
            <a:r>
              <a:rPr lang="en-US" altLang="zh-TW" sz="1000" dirty="0"/>
              <a:t>): 9.92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轉向靈敏度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)  : 0.58</a:t>
            </a:r>
          </a:p>
          <a:p>
            <a:r>
              <a:rPr lang="en-US" altLang="zh-TW" sz="1000" dirty="0"/>
              <a:t> ▸ MPC Q/R </a:t>
            </a:r>
            <a:r>
              <a:rPr lang="zh-TW" altLang="en-US" sz="1000" dirty="0"/>
              <a:t>比值         </a:t>
            </a:r>
            <a:r>
              <a:rPr lang="en-US" altLang="zh-TW" sz="1000" dirty="0"/>
              <a:t>: 999.0</a:t>
            </a:r>
          </a:p>
          <a:p>
            <a:r>
              <a:rPr lang="en-US" altLang="zh-TW" sz="1000" dirty="0"/>
              <a:t>---------------------------------------------</a:t>
            </a:r>
          </a:p>
          <a:p>
            <a:r>
              <a:rPr lang="en-US" altLang="zh-TW" sz="1000" dirty="0"/>
              <a:t> </a:t>
            </a:r>
            <a:r>
              <a:rPr lang="zh-TW" altLang="en-US" sz="1000" dirty="0"/>
              <a:t>🎯 執行時間 </a:t>
            </a:r>
            <a:r>
              <a:rPr lang="en-US" altLang="zh-TW" sz="1000" dirty="0"/>
              <a:t>(Exec Time) : 73.60 </a:t>
            </a:r>
            <a:r>
              <a:rPr lang="zh-TW" altLang="en-US" sz="1000" dirty="0"/>
              <a:t>秒</a:t>
            </a:r>
          </a:p>
          <a:p>
            <a:r>
              <a:rPr lang="zh-TW" altLang="en-US" sz="1000" dirty="0"/>
              <a:t> 🎯 碰撞風險 </a:t>
            </a:r>
            <a:r>
              <a:rPr lang="en-US" altLang="zh-TW" sz="1000" dirty="0"/>
              <a:t>(Risk Score): 1.42</a:t>
            </a:r>
          </a:p>
          <a:p>
            <a:r>
              <a:rPr lang="en-US" altLang="zh-TW" sz="1000" dirty="0"/>
              <a:t>===================================================</a:t>
            </a:r>
            <a:endParaRPr lang="zh-TW" altLang="en-US" sz="10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CA4174C-B3AC-3B4F-BC48-252811256ECB}"/>
              </a:ext>
            </a:extLst>
          </p:cNvPr>
          <p:cNvSpPr txBox="1"/>
          <p:nvPr/>
        </p:nvSpPr>
        <p:spPr>
          <a:xfrm>
            <a:off x="349358" y="699083"/>
            <a:ext cx="5962749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# -----------------------------------------------------------</a:t>
            </a:r>
          </a:p>
          <a:p>
            <a:r>
              <a:rPr lang="en-US" altLang="zh-TW" sz="1000" dirty="0"/>
              <a:t># </a:t>
            </a:r>
            <a:r>
              <a:rPr lang="zh-TW" altLang="en-US" sz="1000" dirty="0"/>
              <a:t>模擬多維度 </a:t>
            </a:r>
            <a:r>
              <a:rPr lang="en-US" altLang="zh-TW" sz="1000" dirty="0"/>
              <a:t>AMR </a:t>
            </a:r>
            <a:r>
              <a:rPr lang="zh-TW" altLang="en-US" sz="1000" dirty="0"/>
              <a:t>黑盒評價方程 </a:t>
            </a:r>
            <a:r>
              <a:rPr lang="en-US" altLang="zh-TW" sz="1000" dirty="0"/>
              <a:t>(</a:t>
            </a:r>
            <a:r>
              <a:rPr lang="zh-TW" altLang="en-US" sz="1000" dirty="0"/>
              <a:t>綜合考慮物理動態與控制</a:t>
            </a:r>
            <a:r>
              <a:rPr lang="en-US" altLang="zh-TW" sz="1000" dirty="0"/>
              <a:t>):</a:t>
            </a:r>
          </a:p>
          <a:p>
            <a:r>
              <a:rPr lang="en-US" altLang="zh-TW" sz="1000" dirty="0"/>
              <a:t># -----------------------------------------------------------</a:t>
            </a:r>
          </a:p>
          <a:p>
            <a:r>
              <a:rPr lang="en-US" altLang="zh-TW" sz="1000" dirty="0"/>
              <a:t># 1. </a:t>
            </a:r>
            <a:r>
              <a:rPr lang="zh-TW" altLang="en-US" sz="1000" dirty="0"/>
              <a:t>執行時間 </a:t>
            </a:r>
            <a:r>
              <a:rPr lang="en-US" altLang="zh-TW" sz="1000" dirty="0"/>
              <a:t>Time: </a:t>
            </a:r>
            <a:r>
              <a:rPr lang="zh-TW" altLang="en-US" sz="1000" dirty="0"/>
              <a:t>受最高速度限制，但加速度大降速快；轉向太靈敏可能震盪耗時</a:t>
            </a:r>
          </a:p>
          <a:p>
            <a:r>
              <a:rPr lang="zh-TW" altLang="en-US" sz="1000" dirty="0"/>
              <a:t>        </a:t>
            </a:r>
            <a:r>
              <a:rPr lang="en-US" altLang="zh-TW" sz="1000" dirty="0" err="1"/>
              <a:t>execution_time</a:t>
            </a:r>
            <a:r>
              <a:rPr lang="en-US" altLang="zh-TW" sz="1000" dirty="0"/>
              <a:t> = (100.0 / 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) + (10.0 /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+ (0.3 *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) + (0.2 * 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)</a:t>
            </a:r>
          </a:p>
          <a:p>
            <a:r>
              <a:rPr lang="en-US" altLang="zh-TW" sz="1000" dirty="0"/>
              <a:t>        </a:t>
            </a:r>
          </a:p>
          <a:p>
            <a:r>
              <a:rPr lang="en-US" altLang="zh-TW" sz="1000" dirty="0"/>
              <a:t># 2. </a:t>
            </a:r>
            <a:r>
              <a:rPr lang="zh-TW" altLang="en-US" sz="1000" dirty="0"/>
              <a:t>碰撞與不平穩風險 </a:t>
            </a:r>
            <a:r>
              <a:rPr lang="en-US" altLang="zh-TW" sz="1000" dirty="0"/>
              <a:t>Risk: </a:t>
            </a:r>
            <a:r>
              <a:rPr lang="zh-TW" altLang="en-US" sz="1000" dirty="0"/>
              <a:t>速度與加速度越大風險越高；安全權重與 </a:t>
            </a:r>
            <a:r>
              <a:rPr lang="en-US" altLang="zh-TW" sz="1000" dirty="0"/>
              <a:t>MPC </a:t>
            </a:r>
            <a:r>
              <a:rPr lang="zh-TW" altLang="en-US" sz="1000" dirty="0"/>
              <a:t>比值越大越平穩</a:t>
            </a:r>
            <a:r>
              <a:rPr lang="en-US" altLang="zh-TW" sz="1000" dirty="0"/>
              <a:t>(</a:t>
            </a:r>
            <a:r>
              <a:rPr lang="zh-TW" altLang="en-US" sz="1000" dirty="0"/>
              <a:t>風險低</a:t>
            </a:r>
            <a:r>
              <a:rPr lang="en-US" altLang="zh-TW" sz="1000" dirty="0"/>
              <a:t>)</a:t>
            </a:r>
          </a:p>
          <a:p>
            <a:r>
              <a:rPr lang="en-US" altLang="zh-TW" sz="1000" dirty="0"/>
              <a:t>        </a:t>
            </a:r>
            <a:r>
              <a:rPr lang="en-US" altLang="zh-TW" sz="1000" dirty="0" err="1"/>
              <a:t>collision_risk</a:t>
            </a:r>
            <a:r>
              <a:rPr lang="en-US" altLang="zh-TW" sz="1000" dirty="0"/>
              <a:t> = (0.15 * (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 ** 2)) + (0.5 *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+ (5.0 /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) + (100.0 / </a:t>
            </a:r>
            <a:r>
              <a:rPr lang="en-US" altLang="zh-TW" sz="1000" dirty="0" err="1"/>
              <a:t>q_r_ratio</a:t>
            </a:r>
            <a:r>
              <a:rPr lang="en-US" altLang="zh-TW" sz="1000" dirty="0"/>
              <a:t>)</a:t>
            </a:r>
            <a:endParaRPr lang="zh-TW" altLang="en-US" sz="10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D1CD63C-4E91-6FA7-106C-7C73AAE91B9B}"/>
              </a:ext>
            </a:extLst>
          </p:cNvPr>
          <p:cNvSpPr txBox="1"/>
          <p:nvPr/>
        </p:nvSpPr>
        <p:spPr>
          <a:xfrm>
            <a:off x="6580337" y="912357"/>
            <a:ext cx="5331755" cy="17851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# === 【GA </a:t>
            </a:r>
            <a:r>
              <a:rPr lang="zh-TW" altLang="en-US" sz="1000" dirty="0"/>
              <a:t>參數可調區域</a:t>
            </a:r>
            <a:r>
              <a:rPr lang="en-US" altLang="zh-TW" sz="1000" dirty="0"/>
              <a:t>】 ===</a:t>
            </a:r>
          </a:p>
          <a:p>
            <a:r>
              <a:rPr lang="en-US" altLang="zh-TW" sz="1000" dirty="0"/>
              <a:t>POP_SIZE = 60          # </a:t>
            </a:r>
            <a:r>
              <a:rPr lang="zh-TW" altLang="en-US" sz="1000" dirty="0"/>
              <a:t>族群大小 </a:t>
            </a:r>
            <a:r>
              <a:rPr lang="en-US" altLang="zh-TW" sz="1000" dirty="0"/>
              <a:t>(Population Size)</a:t>
            </a:r>
          </a:p>
          <a:p>
            <a:r>
              <a:rPr lang="en-US" altLang="zh-TW" sz="1000" dirty="0"/>
              <a:t>N_GEN = 50             # </a:t>
            </a:r>
            <a:r>
              <a:rPr lang="zh-TW" altLang="en-US" sz="1000" dirty="0"/>
              <a:t>演化代數 </a:t>
            </a:r>
            <a:r>
              <a:rPr lang="en-US" altLang="zh-TW" sz="1000" dirty="0"/>
              <a:t>(Generations)</a:t>
            </a:r>
          </a:p>
          <a:p>
            <a:endParaRPr lang="en-US" altLang="zh-TW" sz="1000" dirty="0"/>
          </a:p>
          <a:p>
            <a:r>
              <a:rPr lang="en-US" altLang="zh-TW" sz="1000" dirty="0"/>
              <a:t># SBX </a:t>
            </a:r>
            <a:r>
              <a:rPr lang="zh-TW" altLang="en-US" sz="1000" dirty="0"/>
              <a:t>交叉算子設定 </a:t>
            </a:r>
            <a:r>
              <a:rPr lang="en-US" altLang="zh-TW" sz="1000" dirty="0"/>
              <a:t>(Simulated Binary Crossover)</a:t>
            </a:r>
          </a:p>
          <a:p>
            <a:r>
              <a:rPr lang="en-US" altLang="zh-TW" sz="1000" dirty="0"/>
              <a:t>CROSSOVER_PROB = 0.9   # </a:t>
            </a:r>
            <a:r>
              <a:rPr lang="zh-TW" altLang="en-US" sz="1000" dirty="0"/>
              <a:t>交叉機率 </a:t>
            </a:r>
            <a:r>
              <a:rPr lang="en-US" altLang="zh-TW" sz="1000" dirty="0"/>
              <a:t>(</a:t>
            </a:r>
            <a:r>
              <a:rPr lang="zh-TW" altLang="en-US" sz="1000" dirty="0"/>
              <a:t>預設 </a:t>
            </a:r>
            <a:r>
              <a:rPr lang="en-US" altLang="zh-TW" sz="1000" dirty="0"/>
              <a:t>0.9)</a:t>
            </a:r>
          </a:p>
          <a:p>
            <a:r>
              <a:rPr lang="en-US" altLang="zh-TW" sz="1000" b="1" dirty="0">
                <a:solidFill>
                  <a:srgbClr val="00B0F0"/>
                </a:solidFill>
              </a:rPr>
              <a:t>ETA_C = 1000.0           # </a:t>
            </a:r>
            <a:r>
              <a:rPr lang="zh-TW" altLang="en-US" sz="1000" b="1" dirty="0">
                <a:solidFill>
                  <a:srgbClr val="00B0F0"/>
                </a:solidFill>
              </a:rPr>
              <a:t>交叉分佈指數 </a:t>
            </a:r>
            <a:r>
              <a:rPr lang="el-GR" altLang="zh-TW" sz="1000" b="1" dirty="0">
                <a:solidFill>
                  <a:srgbClr val="00B0F0"/>
                </a:solidFill>
              </a:rPr>
              <a:t>η_</a:t>
            </a:r>
            <a:r>
              <a:rPr lang="en-US" altLang="zh-TW" sz="1000" b="1" dirty="0">
                <a:solidFill>
                  <a:srgbClr val="00B0F0"/>
                </a:solidFill>
              </a:rPr>
              <a:t>c (</a:t>
            </a:r>
            <a:r>
              <a:rPr lang="zh-TW" altLang="en-US" sz="1000" b="1" dirty="0">
                <a:solidFill>
                  <a:srgbClr val="00B0F0"/>
                </a:solidFill>
              </a:rPr>
              <a:t>值越大搜尋越保守，值越小搜尋越激進</a:t>
            </a:r>
            <a:r>
              <a:rPr lang="en-US" altLang="zh-TW" sz="1000" b="1" dirty="0">
                <a:solidFill>
                  <a:srgbClr val="00B0F0"/>
                </a:solidFill>
              </a:rPr>
              <a:t>)</a:t>
            </a:r>
          </a:p>
          <a:p>
            <a:endParaRPr lang="en-US" altLang="zh-TW" sz="1000" dirty="0"/>
          </a:p>
          <a:p>
            <a:r>
              <a:rPr lang="en-US" altLang="zh-TW" sz="1000" dirty="0"/>
              <a:t># </a:t>
            </a:r>
            <a:r>
              <a:rPr lang="zh-TW" altLang="en-US" sz="1000" dirty="0"/>
              <a:t>多項式突變算子設定 </a:t>
            </a:r>
            <a:r>
              <a:rPr lang="en-US" altLang="zh-TW" sz="1000" dirty="0"/>
              <a:t>(Polynomial Mutation)</a:t>
            </a:r>
          </a:p>
          <a:p>
            <a:r>
              <a:rPr lang="en-US" altLang="zh-TW" sz="1000" dirty="0"/>
              <a:t>MUTATION_PROB = 0.2    # </a:t>
            </a:r>
            <a:r>
              <a:rPr lang="zh-TW" altLang="en-US" sz="1000" dirty="0"/>
              <a:t>突變機率 </a:t>
            </a:r>
            <a:r>
              <a:rPr lang="en-US" altLang="zh-TW" sz="1000" dirty="0"/>
              <a:t>(</a:t>
            </a:r>
            <a:r>
              <a:rPr lang="zh-TW" altLang="en-US" sz="1000" dirty="0"/>
              <a:t>建議設為 </a:t>
            </a:r>
            <a:r>
              <a:rPr lang="en-US" altLang="zh-TW" sz="1000" dirty="0"/>
              <a:t>1/</a:t>
            </a:r>
            <a:r>
              <a:rPr lang="en-US" altLang="zh-TW" sz="1000" dirty="0" err="1"/>
              <a:t>n_var</a:t>
            </a:r>
            <a:r>
              <a:rPr lang="en-US" altLang="zh-TW" sz="1000" dirty="0"/>
              <a:t> = 1/5 = 0.2)</a:t>
            </a:r>
          </a:p>
          <a:p>
            <a:r>
              <a:rPr lang="en-US" altLang="zh-TW" sz="1000" dirty="0"/>
              <a:t>ETA_M = 20.0           # </a:t>
            </a:r>
            <a:r>
              <a:rPr lang="zh-TW" altLang="en-US" sz="1000" dirty="0"/>
              <a:t>突變分佈指數 </a:t>
            </a:r>
            <a:r>
              <a:rPr lang="el-GR" altLang="zh-TW" sz="1000" dirty="0"/>
              <a:t>η_</a:t>
            </a:r>
            <a:r>
              <a:rPr lang="en-US" altLang="zh-TW" sz="1000" dirty="0"/>
              <a:t>m (</a:t>
            </a:r>
            <a:r>
              <a:rPr lang="zh-TW" altLang="en-US" sz="1000" dirty="0"/>
              <a:t>值越大擾動幅度越小</a:t>
            </a:r>
            <a:r>
              <a:rPr lang="en-US" altLang="zh-TW" sz="1000" dirty="0"/>
              <a:t>/</a:t>
            </a:r>
            <a:r>
              <a:rPr lang="zh-TW" altLang="en-US" sz="1000" dirty="0"/>
              <a:t>精細，值越小擾動越劇烈</a:t>
            </a:r>
            <a:r>
              <a:rPr lang="en-US" altLang="zh-TW" sz="1000" dirty="0"/>
              <a:t>)</a:t>
            </a:r>
            <a:endParaRPr lang="zh-TW" altLang="en-US" sz="1000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80E15B0-3881-8E38-6D30-F1F86B874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58" y="2215116"/>
            <a:ext cx="6043475" cy="4332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0547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C59F7-DFC5-9D09-DEE5-FEDCFDFE5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33900C-AE61-05CD-D669-CF584DE7940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C8BF0E62-F086-3ED9-EB85-DD25B6D6830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3B949DA1-1192-9223-35BA-75AD5BB9CA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lvl="0">
              <a:defRPr/>
            </a:pPr>
            <a:r>
              <a:rPr lang="zh-TW" altLang="en-US" sz="2900" dirty="0">
                <a:solidFill>
                  <a:srgbClr val="FFFFFF"/>
                </a:solidFill>
              </a:rPr>
              <a:t>帕累托前緣曲線結果與最佳化超參數結果呈現 </a:t>
            </a:r>
            <a:r>
              <a:rPr lang="en-US" altLang="zh-TW" sz="2900" dirty="0">
                <a:solidFill>
                  <a:srgbClr val="FFFFFF"/>
                </a:solidFill>
              </a:rPr>
              <a:t>(5)</a:t>
            </a: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D245ADF-F210-18BA-2674-153810F434EC}"/>
              </a:ext>
            </a:extLst>
          </p:cNvPr>
          <p:cNvSpPr txBox="1"/>
          <p:nvPr/>
        </p:nvSpPr>
        <p:spPr>
          <a:xfrm>
            <a:off x="6580336" y="2962587"/>
            <a:ext cx="5331755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=== 5 </a:t>
            </a:r>
            <a:r>
              <a:rPr lang="zh-TW" altLang="en-US" sz="1000" dirty="0"/>
              <a:t>維 </a:t>
            </a:r>
            <a:r>
              <a:rPr lang="en-US" altLang="zh-TW" sz="1000" dirty="0"/>
              <a:t>AMR </a:t>
            </a:r>
            <a:r>
              <a:rPr lang="zh-TW" altLang="en-US" sz="1000" dirty="0"/>
              <a:t>超參數 </a:t>
            </a:r>
            <a:r>
              <a:rPr lang="en-US" altLang="zh-TW" sz="1000" dirty="0"/>
              <a:t>- </a:t>
            </a:r>
            <a:r>
              <a:rPr lang="zh-TW" altLang="en-US" sz="1000" dirty="0"/>
              <a:t>帕累托最優解 </a:t>
            </a:r>
            <a:r>
              <a:rPr lang="en-US" altLang="zh-TW" sz="1000" dirty="0"/>
              <a:t>(</a:t>
            </a:r>
            <a:r>
              <a:rPr lang="zh-TW" altLang="en-US" sz="1000" dirty="0"/>
              <a:t>部分</a:t>
            </a:r>
            <a:r>
              <a:rPr lang="en-US" altLang="zh-TW" sz="1000" dirty="0"/>
              <a:t>) ===</a:t>
            </a:r>
          </a:p>
          <a:p>
            <a:r>
              <a:rPr lang="en-US" altLang="zh-TW" sz="1000" dirty="0"/>
              <a:t>  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 | 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q_r_ratio</a:t>
            </a:r>
            <a:r>
              <a:rPr lang="en-US" altLang="zh-TW" sz="1000" dirty="0"/>
              <a:t> || Exec Time | Risk Score</a:t>
            </a:r>
          </a:p>
          <a:p>
            <a:r>
              <a:rPr lang="en-US" altLang="zh-TW" sz="1000" dirty="0"/>
              <a:t>---------------------------------------------------------------------------</a:t>
            </a:r>
          </a:p>
          <a:p>
            <a:r>
              <a:rPr lang="en-US" altLang="zh-TW" sz="1000" dirty="0"/>
              <a:t>   1.37 |   0.37 |     9.97 |    2.95 |     981.2 ||    103.81 |       1.07</a:t>
            </a:r>
          </a:p>
          <a:p>
            <a:r>
              <a:rPr lang="en-US" altLang="zh-TW" sz="1000" dirty="0"/>
              <a:t>   2.23 |   0.78 |     9.94 |    1.62 |     811.7 ||     60.95 |       1.76</a:t>
            </a:r>
          </a:p>
          <a:p>
            <a:r>
              <a:rPr lang="en-US" altLang="zh-TW" sz="1000" dirty="0"/>
              <a:t>   1.77 |   0.49 |     9.98 |    2.36 |     982.1 ||     80.50 |       1.32</a:t>
            </a:r>
          </a:p>
          <a:p>
            <a:r>
              <a:rPr lang="en-US" altLang="zh-TW" sz="1000" dirty="0"/>
              <a:t>   1.03 |   0.32 |     9.98 |    1.27 |     982.1 ||    131.11 |       0.92</a:t>
            </a:r>
          </a:p>
          <a:p>
            <a:r>
              <a:rPr lang="en-US" altLang="zh-TW" sz="1000" dirty="0"/>
              <a:t>   1.57 |   0.48 |     9.91 |    1.14 |     990.0 ||     87.92 |       1.21</a:t>
            </a:r>
          </a:p>
          <a:p>
            <a:endParaRPr lang="en-US" altLang="zh-TW" sz="1000" dirty="0"/>
          </a:p>
          <a:p>
            <a:r>
              <a:rPr lang="en-US" altLang="zh-TW" sz="1000" dirty="0"/>
              <a:t>====================================================</a:t>
            </a:r>
          </a:p>
          <a:p>
            <a:r>
              <a:rPr lang="en-US" altLang="zh-TW" sz="1000" dirty="0"/>
              <a:t>★【</a:t>
            </a:r>
            <a:r>
              <a:rPr lang="zh-TW" altLang="en-US" sz="1000" dirty="0"/>
              <a:t>膝點法計算結果 </a:t>
            </a:r>
            <a:r>
              <a:rPr lang="en-US" altLang="zh-TW" sz="1000" dirty="0"/>
              <a:t>- </a:t>
            </a:r>
            <a:r>
              <a:rPr lang="zh-TW" altLang="en-US" sz="1000" dirty="0"/>
              <a:t>最佳折衷方案 </a:t>
            </a:r>
            <a:r>
              <a:rPr lang="en-US" altLang="zh-TW" sz="1000" dirty="0"/>
              <a:t>(Knee Point / Best Trade-off)】★</a:t>
            </a:r>
          </a:p>
          <a:p>
            <a:r>
              <a:rPr lang="en-US" altLang="zh-TW" sz="1000" dirty="0"/>
              <a:t>====================================================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最高車速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)     : 1.57 m/s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最大加速度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  : 0.48 m/s²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安全距離權重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w_safe</a:t>
            </a:r>
            <a:r>
              <a:rPr lang="en-US" altLang="zh-TW" sz="1000" dirty="0"/>
              <a:t>): 9.91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轉向靈敏度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)  : 1.14</a:t>
            </a:r>
          </a:p>
          <a:p>
            <a:r>
              <a:rPr lang="en-US" altLang="zh-TW" sz="1000" dirty="0"/>
              <a:t> ▸ MPC Q/R </a:t>
            </a:r>
            <a:r>
              <a:rPr lang="zh-TW" altLang="en-US" sz="1000" dirty="0"/>
              <a:t>比值         </a:t>
            </a:r>
            <a:r>
              <a:rPr lang="en-US" altLang="zh-TW" sz="1000" dirty="0"/>
              <a:t>: 990.0</a:t>
            </a:r>
          </a:p>
          <a:p>
            <a:r>
              <a:rPr lang="en-US" altLang="zh-TW" sz="1000" dirty="0"/>
              <a:t>---------------------------------------------</a:t>
            </a:r>
          </a:p>
          <a:p>
            <a:r>
              <a:rPr lang="en-US" altLang="zh-TW" sz="1000" dirty="0"/>
              <a:t> </a:t>
            </a:r>
            <a:r>
              <a:rPr lang="zh-TW" altLang="en-US" sz="1000" dirty="0"/>
              <a:t>🎯 執行時間 </a:t>
            </a:r>
            <a:r>
              <a:rPr lang="en-US" altLang="zh-TW" sz="1000" dirty="0"/>
              <a:t>(Exec Time) : 87.92 </a:t>
            </a:r>
            <a:r>
              <a:rPr lang="zh-TW" altLang="en-US" sz="1000" dirty="0"/>
              <a:t>秒</a:t>
            </a:r>
          </a:p>
          <a:p>
            <a:r>
              <a:rPr lang="zh-TW" altLang="en-US" sz="1000" dirty="0"/>
              <a:t> 🎯 碰撞風險 </a:t>
            </a:r>
            <a:r>
              <a:rPr lang="en-US" altLang="zh-TW" sz="1000" dirty="0"/>
              <a:t>(Risk Score): 1.21</a:t>
            </a:r>
          </a:p>
          <a:p>
            <a:r>
              <a:rPr lang="en-US" altLang="zh-TW" sz="1000" dirty="0"/>
              <a:t>====================================================</a:t>
            </a:r>
            <a:endParaRPr lang="zh-TW" altLang="en-US" sz="10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5B30E72-796C-778E-7D05-D40281FD208F}"/>
              </a:ext>
            </a:extLst>
          </p:cNvPr>
          <p:cNvSpPr txBox="1"/>
          <p:nvPr/>
        </p:nvSpPr>
        <p:spPr>
          <a:xfrm>
            <a:off x="349358" y="699083"/>
            <a:ext cx="5962749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# -----------------------------------------------------------</a:t>
            </a:r>
          </a:p>
          <a:p>
            <a:r>
              <a:rPr lang="en-US" altLang="zh-TW" sz="1000" dirty="0"/>
              <a:t># </a:t>
            </a:r>
            <a:r>
              <a:rPr lang="zh-TW" altLang="en-US" sz="1000" dirty="0"/>
              <a:t>模擬多維度 </a:t>
            </a:r>
            <a:r>
              <a:rPr lang="en-US" altLang="zh-TW" sz="1000" dirty="0"/>
              <a:t>AMR </a:t>
            </a:r>
            <a:r>
              <a:rPr lang="zh-TW" altLang="en-US" sz="1000" dirty="0"/>
              <a:t>黑盒評價方程 </a:t>
            </a:r>
            <a:r>
              <a:rPr lang="en-US" altLang="zh-TW" sz="1000" dirty="0"/>
              <a:t>(</a:t>
            </a:r>
            <a:r>
              <a:rPr lang="zh-TW" altLang="en-US" sz="1000" dirty="0"/>
              <a:t>綜合考慮物理動態與控制</a:t>
            </a:r>
            <a:r>
              <a:rPr lang="en-US" altLang="zh-TW" sz="1000" dirty="0"/>
              <a:t>):</a:t>
            </a:r>
          </a:p>
          <a:p>
            <a:r>
              <a:rPr lang="en-US" altLang="zh-TW" sz="1000" dirty="0"/>
              <a:t># -----------------------------------------------------------</a:t>
            </a:r>
          </a:p>
          <a:p>
            <a:r>
              <a:rPr lang="en-US" altLang="zh-TW" sz="1000" dirty="0"/>
              <a:t># 1. </a:t>
            </a:r>
            <a:r>
              <a:rPr lang="zh-TW" altLang="en-US" sz="1000" dirty="0"/>
              <a:t>執行時間 </a:t>
            </a:r>
            <a:r>
              <a:rPr lang="en-US" altLang="zh-TW" sz="1000" dirty="0"/>
              <a:t>Time: </a:t>
            </a:r>
            <a:r>
              <a:rPr lang="zh-TW" altLang="en-US" sz="1000" dirty="0"/>
              <a:t>受最高速度限制，但加速度大降速快；轉向太靈敏可能震盪耗時</a:t>
            </a:r>
          </a:p>
          <a:p>
            <a:r>
              <a:rPr lang="zh-TW" altLang="en-US" sz="1000" dirty="0"/>
              <a:t>        </a:t>
            </a:r>
            <a:r>
              <a:rPr lang="en-US" altLang="zh-TW" sz="1000" dirty="0" err="1"/>
              <a:t>execution_time</a:t>
            </a:r>
            <a:r>
              <a:rPr lang="en-US" altLang="zh-TW" sz="1000" dirty="0"/>
              <a:t> = (100.0 / 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) + (10.0 /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+ (0.3 *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) + (0.2 * 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)</a:t>
            </a:r>
          </a:p>
          <a:p>
            <a:r>
              <a:rPr lang="en-US" altLang="zh-TW" sz="1000" dirty="0"/>
              <a:t>        </a:t>
            </a:r>
          </a:p>
          <a:p>
            <a:r>
              <a:rPr lang="en-US" altLang="zh-TW" sz="1000" dirty="0"/>
              <a:t># 2. </a:t>
            </a:r>
            <a:r>
              <a:rPr lang="zh-TW" altLang="en-US" sz="1000" dirty="0"/>
              <a:t>碰撞與不平穩風險 </a:t>
            </a:r>
            <a:r>
              <a:rPr lang="en-US" altLang="zh-TW" sz="1000" dirty="0"/>
              <a:t>Risk: </a:t>
            </a:r>
            <a:r>
              <a:rPr lang="zh-TW" altLang="en-US" sz="1000" dirty="0"/>
              <a:t>速度與加速度越大風險越高；安全權重與 </a:t>
            </a:r>
            <a:r>
              <a:rPr lang="en-US" altLang="zh-TW" sz="1000" dirty="0"/>
              <a:t>MPC </a:t>
            </a:r>
            <a:r>
              <a:rPr lang="zh-TW" altLang="en-US" sz="1000" dirty="0"/>
              <a:t>比值越大越平穩</a:t>
            </a:r>
            <a:r>
              <a:rPr lang="en-US" altLang="zh-TW" sz="1000" dirty="0"/>
              <a:t>(</a:t>
            </a:r>
            <a:r>
              <a:rPr lang="zh-TW" altLang="en-US" sz="1000" dirty="0"/>
              <a:t>風險低</a:t>
            </a:r>
            <a:r>
              <a:rPr lang="en-US" altLang="zh-TW" sz="1000" dirty="0"/>
              <a:t>)</a:t>
            </a:r>
          </a:p>
          <a:p>
            <a:r>
              <a:rPr lang="en-US" altLang="zh-TW" sz="1000" dirty="0"/>
              <a:t>        </a:t>
            </a:r>
            <a:r>
              <a:rPr lang="en-US" altLang="zh-TW" sz="1000" dirty="0" err="1"/>
              <a:t>collision_risk</a:t>
            </a:r>
            <a:r>
              <a:rPr lang="en-US" altLang="zh-TW" sz="1000" dirty="0"/>
              <a:t> = (0.15 * (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 ** 2)) + (0.5 *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+ (5.0 /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) + (100.0 / </a:t>
            </a:r>
            <a:r>
              <a:rPr lang="en-US" altLang="zh-TW" sz="1000" dirty="0" err="1"/>
              <a:t>q_r_ratio</a:t>
            </a:r>
            <a:r>
              <a:rPr lang="en-US" altLang="zh-TW" sz="1000" dirty="0"/>
              <a:t>)</a:t>
            </a:r>
            <a:endParaRPr lang="zh-TW" altLang="en-US" sz="10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F119A76-D8D4-79A7-9059-EA419E683B22}"/>
              </a:ext>
            </a:extLst>
          </p:cNvPr>
          <p:cNvSpPr txBox="1"/>
          <p:nvPr/>
        </p:nvSpPr>
        <p:spPr>
          <a:xfrm>
            <a:off x="6580337" y="912357"/>
            <a:ext cx="5331755" cy="17851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# === 【GA </a:t>
            </a:r>
            <a:r>
              <a:rPr lang="zh-TW" altLang="en-US" sz="1000" dirty="0"/>
              <a:t>參數可調區域</a:t>
            </a:r>
            <a:r>
              <a:rPr lang="en-US" altLang="zh-TW" sz="1000" dirty="0"/>
              <a:t>】 ===</a:t>
            </a:r>
          </a:p>
          <a:p>
            <a:r>
              <a:rPr lang="en-US" altLang="zh-TW" sz="1000" dirty="0"/>
              <a:t>POP_SIZE = 60          # </a:t>
            </a:r>
            <a:r>
              <a:rPr lang="zh-TW" altLang="en-US" sz="1000" dirty="0"/>
              <a:t>族群大小 </a:t>
            </a:r>
            <a:r>
              <a:rPr lang="en-US" altLang="zh-TW" sz="1000" dirty="0"/>
              <a:t>(Population Size)</a:t>
            </a:r>
          </a:p>
          <a:p>
            <a:r>
              <a:rPr lang="en-US" altLang="zh-TW" sz="1000" dirty="0"/>
              <a:t>N_GEN = 50             # </a:t>
            </a:r>
            <a:r>
              <a:rPr lang="zh-TW" altLang="en-US" sz="1000" dirty="0"/>
              <a:t>演化代數 </a:t>
            </a:r>
            <a:r>
              <a:rPr lang="en-US" altLang="zh-TW" sz="1000" dirty="0"/>
              <a:t>(Generations)</a:t>
            </a:r>
          </a:p>
          <a:p>
            <a:endParaRPr lang="en-US" altLang="zh-TW" sz="1000" dirty="0"/>
          </a:p>
          <a:p>
            <a:r>
              <a:rPr lang="en-US" altLang="zh-TW" sz="1000" dirty="0"/>
              <a:t># SBX </a:t>
            </a:r>
            <a:r>
              <a:rPr lang="zh-TW" altLang="en-US" sz="1000" dirty="0"/>
              <a:t>交叉算子設定 </a:t>
            </a:r>
            <a:r>
              <a:rPr lang="en-US" altLang="zh-TW" sz="1000" dirty="0"/>
              <a:t>(Simulated Binary Crossover)</a:t>
            </a:r>
          </a:p>
          <a:p>
            <a:r>
              <a:rPr lang="en-US" altLang="zh-TW" sz="1000" dirty="0"/>
              <a:t>CROSSOVER_PROB = 0.9   # </a:t>
            </a:r>
            <a:r>
              <a:rPr lang="zh-TW" altLang="en-US" sz="1000" dirty="0"/>
              <a:t>交叉機率 </a:t>
            </a:r>
            <a:r>
              <a:rPr lang="en-US" altLang="zh-TW" sz="1000" dirty="0"/>
              <a:t>(</a:t>
            </a:r>
            <a:r>
              <a:rPr lang="zh-TW" altLang="en-US" sz="1000" dirty="0"/>
              <a:t>預設 </a:t>
            </a:r>
            <a:r>
              <a:rPr lang="en-US" altLang="zh-TW" sz="1000" dirty="0"/>
              <a:t>0.9)</a:t>
            </a:r>
          </a:p>
          <a:p>
            <a:r>
              <a:rPr lang="en-US" altLang="zh-TW" sz="1000" b="1" dirty="0">
                <a:solidFill>
                  <a:srgbClr val="00B0F0"/>
                </a:solidFill>
              </a:rPr>
              <a:t>ETA_C = 0.00001           # </a:t>
            </a:r>
            <a:r>
              <a:rPr lang="zh-TW" altLang="en-US" sz="1000" b="1" dirty="0">
                <a:solidFill>
                  <a:srgbClr val="00B0F0"/>
                </a:solidFill>
              </a:rPr>
              <a:t>交叉分佈指數 </a:t>
            </a:r>
            <a:r>
              <a:rPr lang="el-GR" altLang="zh-TW" sz="1000" b="1" dirty="0">
                <a:solidFill>
                  <a:srgbClr val="00B0F0"/>
                </a:solidFill>
              </a:rPr>
              <a:t>η_</a:t>
            </a:r>
            <a:r>
              <a:rPr lang="en-US" altLang="zh-TW" sz="1000" b="1" dirty="0">
                <a:solidFill>
                  <a:srgbClr val="00B0F0"/>
                </a:solidFill>
              </a:rPr>
              <a:t>c (</a:t>
            </a:r>
            <a:r>
              <a:rPr lang="zh-TW" altLang="en-US" sz="1000" b="1" dirty="0">
                <a:solidFill>
                  <a:srgbClr val="00B0F0"/>
                </a:solidFill>
              </a:rPr>
              <a:t>值越大搜尋越保守，值越小搜尋越激進</a:t>
            </a:r>
            <a:r>
              <a:rPr lang="en-US" altLang="zh-TW" sz="1000" b="1" dirty="0">
                <a:solidFill>
                  <a:srgbClr val="00B0F0"/>
                </a:solidFill>
              </a:rPr>
              <a:t>)</a:t>
            </a:r>
          </a:p>
          <a:p>
            <a:endParaRPr lang="en-US" altLang="zh-TW" sz="1000" dirty="0"/>
          </a:p>
          <a:p>
            <a:r>
              <a:rPr lang="en-US" altLang="zh-TW" sz="1000" dirty="0"/>
              <a:t># </a:t>
            </a:r>
            <a:r>
              <a:rPr lang="zh-TW" altLang="en-US" sz="1000" dirty="0"/>
              <a:t>多項式突變算子設定 </a:t>
            </a:r>
            <a:r>
              <a:rPr lang="en-US" altLang="zh-TW" sz="1000" dirty="0"/>
              <a:t>(Polynomial Mutation)</a:t>
            </a:r>
          </a:p>
          <a:p>
            <a:r>
              <a:rPr lang="en-US" altLang="zh-TW" sz="1000" dirty="0"/>
              <a:t>MUTATION_PROB = 0.2    # </a:t>
            </a:r>
            <a:r>
              <a:rPr lang="zh-TW" altLang="en-US" sz="1000" dirty="0"/>
              <a:t>突變機率 </a:t>
            </a:r>
            <a:r>
              <a:rPr lang="en-US" altLang="zh-TW" sz="1000" dirty="0"/>
              <a:t>(</a:t>
            </a:r>
            <a:r>
              <a:rPr lang="zh-TW" altLang="en-US" sz="1000" dirty="0"/>
              <a:t>建議設為 </a:t>
            </a:r>
            <a:r>
              <a:rPr lang="en-US" altLang="zh-TW" sz="1000" dirty="0"/>
              <a:t>1/</a:t>
            </a:r>
            <a:r>
              <a:rPr lang="en-US" altLang="zh-TW" sz="1000" dirty="0" err="1"/>
              <a:t>n_var</a:t>
            </a:r>
            <a:r>
              <a:rPr lang="en-US" altLang="zh-TW" sz="1000" dirty="0"/>
              <a:t> = 1/5 = 0.2)</a:t>
            </a:r>
          </a:p>
          <a:p>
            <a:r>
              <a:rPr lang="en-US" altLang="zh-TW" sz="1000" dirty="0"/>
              <a:t>ETA_M = 20.0           # </a:t>
            </a:r>
            <a:r>
              <a:rPr lang="zh-TW" altLang="en-US" sz="1000" dirty="0"/>
              <a:t>突變分佈指數 </a:t>
            </a:r>
            <a:r>
              <a:rPr lang="el-GR" altLang="zh-TW" sz="1000" dirty="0"/>
              <a:t>η_</a:t>
            </a:r>
            <a:r>
              <a:rPr lang="en-US" altLang="zh-TW" sz="1000" dirty="0"/>
              <a:t>m (</a:t>
            </a:r>
            <a:r>
              <a:rPr lang="zh-TW" altLang="en-US" sz="1000" dirty="0"/>
              <a:t>值越大擾動幅度越小</a:t>
            </a:r>
            <a:r>
              <a:rPr lang="en-US" altLang="zh-TW" sz="1000" dirty="0"/>
              <a:t>/</a:t>
            </a:r>
            <a:r>
              <a:rPr lang="zh-TW" altLang="en-US" sz="1000" dirty="0"/>
              <a:t>精細，值越小擾動越劇烈</a:t>
            </a:r>
            <a:r>
              <a:rPr lang="en-US" altLang="zh-TW" sz="1000" dirty="0"/>
              <a:t>)</a:t>
            </a:r>
            <a:endParaRPr lang="zh-TW" altLang="en-US" sz="1000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53DDBB81-DC73-96B8-7450-1E3F34613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59" y="2215116"/>
            <a:ext cx="6039440" cy="4332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412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F9A50-21FC-9918-767D-10FF7DD3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AB96F4-32B1-F49E-3740-1DB5AEBAAB6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13B37F26-BB87-36A4-A0B4-58D0ED599CB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5F06FE30-C958-368D-EABE-5EB214049A3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lvl="0">
              <a:defRPr/>
            </a:pPr>
            <a:r>
              <a:rPr lang="zh-TW" altLang="en-US" sz="2900" dirty="0">
                <a:solidFill>
                  <a:srgbClr val="FFFFFF"/>
                </a:solidFill>
              </a:rPr>
              <a:t>帕累托前緣曲線結果與最佳化超參數結果呈現 </a:t>
            </a:r>
            <a:r>
              <a:rPr lang="en-US" altLang="zh-TW" sz="2900" dirty="0">
                <a:solidFill>
                  <a:srgbClr val="FFFFFF"/>
                </a:solidFill>
              </a:rPr>
              <a:t>(6)</a:t>
            </a: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692D397-EF49-6B2D-9920-D03DB7854541}"/>
              </a:ext>
            </a:extLst>
          </p:cNvPr>
          <p:cNvSpPr txBox="1"/>
          <p:nvPr/>
        </p:nvSpPr>
        <p:spPr>
          <a:xfrm>
            <a:off x="6580336" y="2962587"/>
            <a:ext cx="5434185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=== 5 </a:t>
            </a:r>
            <a:r>
              <a:rPr lang="zh-TW" altLang="en-US" sz="1000" dirty="0"/>
              <a:t>維 </a:t>
            </a:r>
            <a:r>
              <a:rPr lang="en-US" altLang="zh-TW" sz="1000" dirty="0"/>
              <a:t>AMR </a:t>
            </a:r>
            <a:r>
              <a:rPr lang="zh-TW" altLang="en-US" sz="1000" dirty="0"/>
              <a:t>超參數 </a:t>
            </a:r>
            <a:r>
              <a:rPr lang="en-US" altLang="zh-TW" sz="1000" dirty="0"/>
              <a:t>- </a:t>
            </a:r>
            <a:r>
              <a:rPr lang="zh-TW" altLang="en-US" sz="1000" dirty="0"/>
              <a:t>帕累托最優解 </a:t>
            </a:r>
            <a:r>
              <a:rPr lang="en-US" altLang="zh-TW" sz="1000" dirty="0"/>
              <a:t>(</a:t>
            </a:r>
            <a:r>
              <a:rPr lang="zh-TW" altLang="en-US" sz="1000" dirty="0"/>
              <a:t>部分</a:t>
            </a:r>
            <a:r>
              <a:rPr lang="en-US" altLang="zh-TW" sz="1000" dirty="0"/>
              <a:t>) ===</a:t>
            </a:r>
          </a:p>
          <a:p>
            <a:r>
              <a:rPr lang="en-US" altLang="zh-TW" sz="1000" dirty="0"/>
              <a:t>  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 | 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q_r_ratio</a:t>
            </a:r>
            <a:r>
              <a:rPr lang="en-US" altLang="zh-TW" sz="1000" dirty="0"/>
              <a:t> || Exec Time | Risk Score</a:t>
            </a:r>
          </a:p>
          <a:p>
            <a:r>
              <a:rPr lang="en-US" altLang="zh-TW" sz="1000" dirty="0"/>
              <a:t>---------------------------------------------------------------------------</a:t>
            </a:r>
          </a:p>
          <a:p>
            <a:r>
              <a:rPr lang="en-US" altLang="zh-TW" sz="1000" dirty="0"/>
              <a:t>   3.00 |   1.88 |     2.86 |    0.57 |     993.3 ||     39.68 |       4.13</a:t>
            </a:r>
          </a:p>
          <a:p>
            <a:r>
              <a:rPr lang="en-US" altLang="zh-TW" sz="1000" dirty="0"/>
              <a:t>   1.20 |   0.37 |     9.85 |    0.71 |     984.0 ||    113.86 |       1.01</a:t>
            </a:r>
          </a:p>
          <a:p>
            <a:r>
              <a:rPr lang="en-US" altLang="zh-TW" sz="1000" dirty="0"/>
              <a:t>   1.83 |   0.73 |     9.84 |    2.72 |     983.7 ||     71.80 |       1.48</a:t>
            </a:r>
          </a:p>
          <a:p>
            <a:r>
              <a:rPr lang="en-US" altLang="zh-TW" sz="1000" dirty="0"/>
              <a:t>   1.66 |   0.33 |     9.80 |    0.71 |     984.0 ||     93.83 |       1.19</a:t>
            </a:r>
          </a:p>
          <a:p>
            <a:r>
              <a:rPr lang="en-US" altLang="zh-TW" sz="1000" dirty="0"/>
              <a:t>   1.15 |   0.60 |     9.85 |    0.56 |     983.8 ||    106.79 |       1.11</a:t>
            </a:r>
          </a:p>
          <a:p>
            <a:endParaRPr lang="en-US" altLang="zh-TW" sz="1000" dirty="0"/>
          </a:p>
          <a:p>
            <a:r>
              <a:rPr lang="en-US" altLang="zh-TW" sz="1000" dirty="0"/>
              <a:t>===================================================</a:t>
            </a:r>
          </a:p>
          <a:p>
            <a:r>
              <a:rPr lang="en-US" altLang="zh-TW" sz="1000" dirty="0"/>
              <a:t>★【</a:t>
            </a:r>
            <a:r>
              <a:rPr lang="zh-TW" altLang="en-US" sz="1000" dirty="0"/>
              <a:t>膝點法計算結果 </a:t>
            </a:r>
            <a:r>
              <a:rPr lang="en-US" altLang="zh-TW" sz="1000" dirty="0"/>
              <a:t>- </a:t>
            </a:r>
            <a:r>
              <a:rPr lang="zh-TW" altLang="en-US" sz="1000" dirty="0"/>
              <a:t>最佳折衷方案 </a:t>
            </a:r>
            <a:r>
              <a:rPr lang="en-US" altLang="zh-TW" sz="1000" dirty="0"/>
              <a:t>(Knee Point / Best Trade-off)】★</a:t>
            </a:r>
          </a:p>
          <a:p>
            <a:r>
              <a:rPr lang="en-US" altLang="zh-TW" sz="1000" dirty="0"/>
              <a:t>===================================================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最高車速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)     : 1.71 m/s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最大加速度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  : 0.61 m/s²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安全距離權重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w_safe</a:t>
            </a:r>
            <a:r>
              <a:rPr lang="en-US" altLang="zh-TW" sz="1000" dirty="0"/>
              <a:t>): 9.94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轉向靈敏度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)  : 0.56</a:t>
            </a:r>
          </a:p>
          <a:p>
            <a:r>
              <a:rPr lang="en-US" altLang="zh-TW" sz="1000" dirty="0"/>
              <a:t> ▸ MPC Q/R </a:t>
            </a:r>
            <a:r>
              <a:rPr lang="zh-TW" altLang="en-US" sz="1000" dirty="0"/>
              <a:t>比值         </a:t>
            </a:r>
            <a:r>
              <a:rPr lang="en-US" altLang="zh-TW" sz="1000" dirty="0"/>
              <a:t>: 985.1</a:t>
            </a:r>
          </a:p>
          <a:p>
            <a:r>
              <a:rPr lang="en-US" altLang="zh-TW" sz="1000" dirty="0"/>
              <a:t>---------------------------------------------</a:t>
            </a:r>
          </a:p>
          <a:p>
            <a:r>
              <a:rPr lang="en-US" altLang="zh-TW" sz="1000" dirty="0"/>
              <a:t> </a:t>
            </a:r>
            <a:r>
              <a:rPr lang="zh-TW" altLang="en-US" sz="1000" dirty="0"/>
              <a:t>🎯 執行時間 </a:t>
            </a:r>
            <a:r>
              <a:rPr lang="en-US" altLang="zh-TW" sz="1000" dirty="0"/>
              <a:t>(Exec Time) : 78.05 </a:t>
            </a:r>
            <a:r>
              <a:rPr lang="zh-TW" altLang="en-US" sz="1000" dirty="0"/>
              <a:t>秒</a:t>
            </a:r>
          </a:p>
          <a:p>
            <a:r>
              <a:rPr lang="zh-TW" altLang="en-US" sz="1000" dirty="0"/>
              <a:t> 🎯 碰撞風險 </a:t>
            </a:r>
            <a:r>
              <a:rPr lang="en-US" altLang="zh-TW" sz="1000" dirty="0"/>
              <a:t>(Risk Score): 1.35</a:t>
            </a:r>
          </a:p>
          <a:p>
            <a:r>
              <a:rPr lang="en-US" altLang="zh-TW" sz="1000" dirty="0"/>
              <a:t>===================================================</a:t>
            </a:r>
            <a:endParaRPr lang="zh-TW" altLang="en-US" sz="10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6288D2C-045C-3A4B-9AA8-4BBA1BFC4854}"/>
              </a:ext>
            </a:extLst>
          </p:cNvPr>
          <p:cNvSpPr txBox="1"/>
          <p:nvPr/>
        </p:nvSpPr>
        <p:spPr>
          <a:xfrm>
            <a:off x="349358" y="699083"/>
            <a:ext cx="5962749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# -----------------------------------------------------------</a:t>
            </a:r>
          </a:p>
          <a:p>
            <a:r>
              <a:rPr lang="en-US" altLang="zh-TW" sz="1000" dirty="0"/>
              <a:t># </a:t>
            </a:r>
            <a:r>
              <a:rPr lang="zh-TW" altLang="en-US" sz="1000" dirty="0"/>
              <a:t>模擬多維度 </a:t>
            </a:r>
            <a:r>
              <a:rPr lang="en-US" altLang="zh-TW" sz="1000" dirty="0"/>
              <a:t>AMR </a:t>
            </a:r>
            <a:r>
              <a:rPr lang="zh-TW" altLang="en-US" sz="1000" dirty="0"/>
              <a:t>黑盒評價方程 </a:t>
            </a:r>
            <a:r>
              <a:rPr lang="en-US" altLang="zh-TW" sz="1000" dirty="0"/>
              <a:t>(</a:t>
            </a:r>
            <a:r>
              <a:rPr lang="zh-TW" altLang="en-US" sz="1000" dirty="0"/>
              <a:t>綜合考慮物理動態與控制</a:t>
            </a:r>
            <a:r>
              <a:rPr lang="en-US" altLang="zh-TW" sz="1000" dirty="0"/>
              <a:t>):</a:t>
            </a:r>
          </a:p>
          <a:p>
            <a:r>
              <a:rPr lang="en-US" altLang="zh-TW" sz="1000" dirty="0"/>
              <a:t># -----------------------------------------------------------</a:t>
            </a:r>
          </a:p>
          <a:p>
            <a:r>
              <a:rPr lang="en-US" altLang="zh-TW" sz="1000" dirty="0"/>
              <a:t># 1. </a:t>
            </a:r>
            <a:r>
              <a:rPr lang="zh-TW" altLang="en-US" sz="1000" dirty="0"/>
              <a:t>執行時間 </a:t>
            </a:r>
            <a:r>
              <a:rPr lang="en-US" altLang="zh-TW" sz="1000" dirty="0"/>
              <a:t>Time: </a:t>
            </a:r>
            <a:r>
              <a:rPr lang="zh-TW" altLang="en-US" sz="1000" dirty="0"/>
              <a:t>受最高速度限制，但加速度大降速快；轉向太靈敏可能震盪耗時</a:t>
            </a:r>
          </a:p>
          <a:p>
            <a:r>
              <a:rPr lang="zh-TW" altLang="en-US" sz="1000" dirty="0"/>
              <a:t>        </a:t>
            </a:r>
            <a:r>
              <a:rPr lang="en-US" altLang="zh-TW" sz="1000" dirty="0" err="1"/>
              <a:t>execution_time</a:t>
            </a:r>
            <a:r>
              <a:rPr lang="en-US" altLang="zh-TW" sz="1000" dirty="0"/>
              <a:t> = (100.0 / 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) + (10.0 /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+ (0.3 *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) + (0.2 * 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)</a:t>
            </a:r>
          </a:p>
          <a:p>
            <a:r>
              <a:rPr lang="en-US" altLang="zh-TW" sz="1000" dirty="0"/>
              <a:t>        </a:t>
            </a:r>
          </a:p>
          <a:p>
            <a:r>
              <a:rPr lang="en-US" altLang="zh-TW" sz="1000" dirty="0"/>
              <a:t># 2. </a:t>
            </a:r>
            <a:r>
              <a:rPr lang="zh-TW" altLang="en-US" sz="1000" dirty="0"/>
              <a:t>碰撞與不平穩風險 </a:t>
            </a:r>
            <a:r>
              <a:rPr lang="en-US" altLang="zh-TW" sz="1000" dirty="0"/>
              <a:t>Risk: </a:t>
            </a:r>
            <a:r>
              <a:rPr lang="zh-TW" altLang="en-US" sz="1000" dirty="0"/>
              <a:t>速度與加速度越大風險越高；安全權重與 </a:t>
            </a:r>
            <a:r>
              <a:rPr lang="en-US" altLang="zh-TW" sz="1000" dirty="0"/>
              <a:t>MPC </a:t>
            </a:r>
            <a:r>
              <a:rPr lang="zh-TW" altLang="en-US" sz="1000" dirty="0"/>
              <a:t>比值越大越平穩</a:t>
            </a:r>
            <a:r>
              <a:rPr lang="en-US" altLang="zh-TW" sz="1000" dirty="0"/>
              <a:t>(</a:t>
            </a:r>
            <a:r>
              <a:rPr lang="zh-TW" altLang="en-US" sz="1000" dirty="0"/>
              <a:t>風險低</a:t>
            </a:r>
            <a:r>
              <a:rPr lang="en-US" altLang="zh-TW" sz="1000" dirty="0"/>
              <a:t>)</a:t>
            </a:r>
          </a:p>
          <a:p>
            <a:r>
              <a:rPr lang="en-US" altLang="zh-TW" sz="1000" dirty="0"/>
              <a:t>        </a:t>
            </a:r>
            <a:r>
              <a:rPr lang="en-US" altLang="zh-TW" sz="1000" dirty="0" err="1"/>
              <a:t>collision_risk</a:t>
            </a:r>
            <a:r>
              <a:rPr lang="en-US" altLang="zh-TW" sz="1000" dirty="0"/>
              <a:t> = (0.15 * (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 ** 2)) + (0.5 *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+ (5.0 /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) + (100.0 / </a:t>
            </a:r>
            <a:r>
              <a:rPr lang="en-US" altLang="zh-TW" sz="1000" dirty="0" err="1"/>
              <a:t>q_r_ratio</a:t>
            </a:r>
            <a:r>
              <a:rPr lang="en-US" altLang="zh-TW" sz="1000" dirty="0"/>
              <a:t>)</a:t>
            </a:r>
            <a:endParaRPr lang="zh-TW" altLang="en-US" sz="10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A76CC76-9419-D769-ED73-0C71547320C9}"/>
              </a:ext>
            </a:extLst>
          </p:cNvPr>
          <p:cNvSpPr txBox="1"/>
          <p:nvPr/>
        </p:nvSpPr>
        <p:spPr>
          <a:xfrm>
            <a:off x="6580337" y="912357"/>
            <a:ext cx="5434185" cy="17851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# === 【GA </a:t>
            </a:r>
            <a:r>
              <a:rPr lang="zh-TW" altLang="en-US" sz="1000" dirty="0"/>
              <a:t>參數可調區域</a:t>
            </a:r>
            <a:r>
              <a:rPr lang="en-US" altLang="zh-TW" sz="1000" dirty="0"/>
              <a:t>】 ===</a:t>
            </a:r>
          </a:p>
          <a:p>
            <a:r>
              <a:rPr lang="en-US" altLang="zh-TW" sz="1000" dirty="0"/>
              <a:t>POP_SIZE = 60          # </a:t>
            </a:r>
            <a:r>
              <a:rPr lang="zh-TW" altLang="en-US" sz="1000" dirty="0"/>
              <a:t>族群大小 </a:t>
            </a:r>
            <a:r>
              <a:rPr lang="en-US" altLang="zh-TW" sz="1000" dirty="0"/>
              <a:t>(Population Size)</a:t>
            </a:r>
          </a:p>
          <a:p>
            <a:r>
              <a:rPr lang="en-US" altLang="zh-TW" sz="1000" dirty="0"/>
              <a:t>N_GEN = 50             # </a:t>
            </a:r>
            <a:r>
              <a:rPr lang="zh-TW" altLang="en-US" sz="1000" dirty="0"/>
              <a:t>演化代數 </a:t>
            </a:r>
            <a:r>
              <a:rPr lang="en-US" altLang="zh-TW" sz="1000" dirty="0"/>
              <a:t>(Generations)</a:t>
            </a:r>
          </a:p>
          <a:p>
            <a:endParaRPr lang="en-US" altLang="zh-TW" sz="1000" dirty="0"/>
          </a:p>
          <a:p>
            <a:r>
              <a:rPr lang="en-US" altLang="zh-TW" sz="1000" dirty="0"/>
              <a:t># SBX </a:t>
            </a:r>
            <a:r>
              <a:rPr lang="zh-TW" altLang="en-US" sz="1000" dirty="0"/>
              <a:t>交叉算子設定 </a:t>
            </a:r>
            <a:r>
              <a:rPr lang="en-US" altLang="zh-TW" sz="1000" dirty="0"/>
              <a:t>(Simulated Binary Crossover)</a:t>
            </a:r>
          </a:p>
          <a:p>
            <a:r>
              <a:rPr lang="en-US" altLang="zh-TW" sz="1000" dirty="0"/>
              <a:t>CROSSOVER_PROB = 0.9   # </a:t>
            </a:r>
            <a:r>
              <a:rPr lang="zh-TW" altLang="en-US" sz="1000" dirty="0"/>
              <a:t>交叉機率 </a:t>
            </a:r>
            <a:r>
              <a:rPr lang="en-US" altLang="zh-TW" sz="1000" dirty="0"/>
              <a:t>(</a:t>
            </a:r>
            <a:r>
              <a:rPr lang="zh-TW" altLang="en-US" sz="1000" dirty="0"/>
              <a:t>預設 </a:t>
            </a:r>
            <a:r>
              <a:rPr lang="en-US" altLang="zh-TW" sz="1000" dirty="0"/>
              <a:t>0.9)</a:t>
            </a:r>
          </a:p>
          <a:p>
            <a:r>
              <a:rPr lang="en-US" altLang="zh-TW" sz="1000" dirty="0"/>
              <a:t>ETA_C = 15.0           # </a:t>
            </a:r>
            <a:r>
              <a:rPr lang="zh-TW" altLang="en-US" sz="1000" dirty="0"/>
              <a:t>交叉分佈指數 </a:t>
            </a:r>
            <a:r>
              <a:rPr lang="el-GR" altLang="zh-TW" sz="1000" dirty="0"/>
              <a:t>η_</a:t>
            </a:r>
            <a:r>
              <a:rPr lang="en-US" altLang="zh-TW" sz="1000" dirty="0"/>
              <a:t>c (</a:t>
            </a:r>
            <a:r>
              <a:rPr lang="zh-TW" altLang="en-US" sz="1000" dirty="0"/>
              <a:t>值越大搜尋越保守，值越小搜尋越激進</a:t>
            </a:r>
            <a:r>
              <a:rPr lang="en-US" altLang="zh-TW" sz="1000" dirty="0"/>
              <a:t>)</a:t>
            </a:r>
          </a:p>
          <a:p>
            <a:endParaRPr lang="en-US" altLang="zh-TW" sz="1000" dirty="0"/>
          </a:p>
          <a:p>
            <a:r>
              <a:rPr lang="en-US" altLang="zh-TW" sz="1000" dirty="0"/>
              <a:t># </a:t>
            </a:r>
            <a:r>
              <a:rPr lang="zh-TW" altLang="en-US" sz="1000" dirty="0"/>
              <a:t>多項式突變算子設定 </a:t>
            </a:r>
            <a:r>
              <a:rPr lang="en-US" altLang="zh-TW" sz="1000" dirty="0"/>
              <a:t>(Polynomial Mutation)</a:t>
            </a:r>
          </a:p>
          <a:p>
            <a:r>
              <a:rPr lang="en-US" altLang="zh-TW" sz="1000" dirty="0"/>
              <a:t>MUTATION_PROB = 0.2    # </a:t>
            </a:r>
            <a:r>
              <a:rPr lang="zh-TW" altLang="en-US" sz="1000" dirty="0"/>
              <a:t>突變機率 </a:t>
            </a:r>
            <a:r>
              <a:rPr lang="en-US" altLang="zh-TW" sz="1000" dirty="0"/>
              <a:t>(</a:t>
            </a:r>
            <a:r>
              <a:rPr lang="zh-TW" altLang="en-US" sz="1000" dirty="0"/>
              <a:t>建議設為 </a:t>
            </a:r>
            <a:r>
              <a:rPr lang="en-US" altLang="zh-TW" sz="1000" dirty="0"/>
              <a:t>1/</a:t>
            </a:r>
            <a:r>
              <a:rPr lang="en-US" altLang="zh-TW" sz="1000" dirty="0" err="1"/>
              <a:t>n_var</a:t>
            </a:r>
            <a:r>
              <a:rPr lang="en-US" altLang="zh-TW" sz="1000" dirty="0"/>
              <a:t> = 1/5 = 0.2)</a:t>
            </a:r>
          </a:p>
          <a:p>
            <a:r>
              <a:rPr lang="en-US" altLang="zh-TW" sz="1000" b="1" dirty="0">
                <a:solidFill>
                  <a:srgbClr val="00B0F0"/>
                </a:solidFill>
              </a:rPr>
              <a:t>ETA_M = 1000.0           # </a:t>
            </a:r>
            <a:r>
              <a:rPr lang="zh-TW" altLang="en-US" sz="1000" b="1" dirty="0">
                <a:solidFill>
                  <a:srgbClr val="00B0F0"/>
                </a:solidFill>
              </a:rPr>
              <a:t>突變分佈指數 </a:t>
            </a:r>
            <a:r>
              <a:rPr lang="el-GR" altLang="zh-TW" sz="1000" b="1" dirty="0">
                <a:solidFill>
                  <a:srgbClr val="00B0F0"/>
                </a:solidFill>
              </a:rPr>
              <a:t>η_</a:t>
            </a:r>
            <a:r>
              <a:rPr lang="en-US" altLang="zh-TW" sz="1000" b="1" dirty="0">
                <a:solidFill>
                  <a:srgbClr val="00B0F0"/>
                </a:solidFill>
              </a:rPr>
              <a:t>m (</a:t>
            </a:r>
            <a:r>
              <a:rPr lang="zh-TW" altLang="en-US" sz="1000" b="1" dirty="0">
                <a:solidFill>
                  <a:srgbClr val="00B0F0"/>
                </a:solidFill>
              </a:rPr>
              <a:t>值越大擾動幅度越小</a:t>
            </a:r>
            <a:r>
              <a:rPr lang="en-US" altLang="zh-TW" sz="1000" b="1" dirty="0">
                <a:solidFill>
                  <a:srgbClr val="00B0F0"/>
                </a:solidFill>
              </a:rPr>
              <a:t>/</a:t>
            </a:r>
            <a:r>
              <a:rPr lang="zh-TW" altLang="en-US" sz="1000" b="1" dirty="0">
                <a:solidFill>
                  <a:srgbClr val="00B0F0"/>
                </a:solidFill>
              </a:rPr>
              <a:t>精細，值越小擾動越劇烈</a:t>
            </a:r>
            <a:r>
              <a:rPr lang="en-US" altLang="zh-TW" sz="1000" b="1" dirty="0">
                <a:solidFill>
                  <a:srgbClr val="00B0F0"/>
                </a:solidFill>
              </a:rPr>
              <a:t>)</a:t>
            </a:r>
            <a:endParaRPr lang="zh-TW" altLang="en-US" sz="1000" b="1" dirty="0">
              <a:solidFill>
                <a:srgbClr val="00B0F0"/>
              </a:solidFill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0130E14-7777-01BE-ACAC-BAF3CD6C1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58" y="2215116"/>
            <a:ext cx="5962749" cy="436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8161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D71CE-63B4-BD42-1912-7C94C0152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149C19-7F8A-589F-977B-7CE7DE3F57B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DD910030-90EC-7676-C133-7FB0EA32C37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314F4347-4362-A323-76A8-5F554410C6F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lvl="0">
              <a:defRPr/>
            </a:pPr>
            <a:r>
              <a:rPr lang="zh-TW" altLang="en-US" sz="2900" dirty="0">
                <a:solidFill>
                  <a:srgbClr val="FFFFFF"/>
                </a:solidFill>
              </a:rPr>
              <a:t>帕累托前緣曲線結果與最佳化超參數結果呈現 </a:t>
            </a:r>
            <a:r>
              <a:rPr lang="en-US" altLang="zh-TW" sz="2900" dirty="0">
                <a:solidFill>
                  <a:srgbClr val="FFFFFF"/>
                </a:solidFill>
              </a:rPr>
              <a:t>(7)</a:t>
            </a: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4D754D3-F89C-44A7-92B7-FA277ED72D46}"/>
              </a:ext>
            </a:extLst>
          </p:cNvPr>
          <p:cNvSpPr txBox="1"/>
          <p:nvPr/>
        </p:nvSpPr>
        <p:spPr>
          <a:xfrm>
            <a:off x="6580336" y="2962587"/>
            <a:ext cx="5445759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=== 5 </a:t>
            </a:r>
            <a:r>
              <a:rPr lang="zh-TW" altLang="en-US" sz="1000" dirty="0"/>
              <a:t>維 </a:t>
            </a:r>
            <a:r>
              <a:rPr lang="en-US" altLang="zh-TW" sz="1000" dirty="0"/>
              <a:t>AMR </a:t>
            </a:r>
            <a:r>
              <a:rPr lang="zh-TW" altLang="en-US" sz="1000" dirty="0"/>
              <a:t>超參數 </a:t>
            </a:r>
            <a:r>
              <a:rPr lang="en-US" altLang="zh-TW" sz="1000" dirty="0"/>
              <a:t>- </a:t>
            </a:r>
            <a:r>
              <a:rPr lang="zh-TW" altLang="en-US" sz="1000" dirty="0"/>
              <a:t>帕累托最優解 </a:t>
            </a:r>
            <a:r>
              <a:rPr lang="en-US" altLang="zh-TW" sz="1000" dirty="0"/>
              <a:t>(</a:t>
            </a:r>
            <a:r>
              <a:rPr lang="zh-TW" altLang="en-US" sz="1000" dirty="0"/>
              <a:t>部分</a:t>
            </a:r>
            <a:r>
              <a:rPr lang="en-US" altLang="zh-TW" sz="1000" dirty="0"/>
              <a:t>) ===</a:t>
            </a:r>
          </a:p>
          <a:p>
            <a:r>
              <a:rPr lang="en-US" altLang="zh-TW" sz="1000" dirty="0"/>
              <a:t>  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 | 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 | </a:t>
            </a:r>
            <a:r>
              <a:rPr lang="en-US" altLang="zh-TW" sz="1000" dirty="0" err="1"/>
              <a:t>q_r_ratio</a:t>
            </a:r>
            <a:r>
              <a:rPr lang="en-US" altLang="zh-TW" sz="1000" dirty="0"/>
              <a:t> || Exec Time | Risk Score</a:t>
            </a:r>
          </a:p>
          <a:p>
            <a:r>
              <a:rPr lang="en-US" altLang="zh-TW" sz="1000" dirty="0"/>
              <a:t>---------------------------------------------------------------------------</a:t>
            </a:r>
          </a:p>
          <a:p>
            <a:r>
              <a:rPr lang="en-US" altLang="zh-TW" sz="1000" dirty="0"/>
              <a:t>   1.06 |   0.36 |     9.88 |    1.15 |     998.0 ||    124.75 |       0.96</a:t>
            </a:r>
          </a:p>
          <a:p>
            <a:r>
              <a:rPr lang="en-US" altLang="zh-TW" sz="1000" dirty="0"/>
              <a:t>   1.70 |   0.38 |     9.88 |    1.10 |     998.0 ||     88.33 |       1.23</a:t>
            </a:r>
          </a:p>
          <a:p>
            <a:r>
              <a:rPr lang="en-US" altLang="zh-TW" sz="1000" dirty="0"/>
              <a:t>   2.04 |   0.64 |     9.85 |    1.09 |     975.5 ||     67.96 |       1.55</a:t>
            </a:r>
          </a:p>
          <a:p>
            <a:r>
              <a:rPr lang="en-US" altLang="zh-TW" sz="1000" dirty="0"/>
              <a:t>   0.68 |   0.16 |     9.95 |    0.57 |     979.9 ||    211.84 |       0.76</a:t>
            </a:r>
          </a:p>
          <a:p>
            <a:r>
              <a:rPr lang="en-US" altLang="zh-TW" sz="1000" dirty="0"/>
              <a:t>   2.14 |   0.84 |     9.84 |    0.57 |     986.3 ||     61.78 |       1.71</a:t>
            </a:r>
          </a:p>
          <a:p>
            <a:endParaRPr lang="en-US" altLang="zh-TW" sz="1000" dirty="0"/>
          </a:p>
          <a:p>
            <a:r>
              <a:rPr lang="en-US" altLang="zh-TW" sz="1000" dirty="0"/>
              <a:t>====================================================</a:t>
            </a:r>
          </a:p>
          <a:p>
            <a:r>
              <a:rPr lang="en-US" altLang="zh-TW" sz="1000" dirty="0"/>
              <a:t>★【</a:t>
            </a:r>
            <a:r>
              <a:rPr lang="zh-TW" altLang="en-US" sz="1000" dirty="0"/>
              <a:t>膝點法計算結果 </a:t>
            </a:r>
            <a:r>
              <a:rPr lang="en-US" altLang="zh-TW" sz="1000" dirty="0"/>
              <a:t>- </a:t>
            </a:r>
            <a:r>
              <a:rPr lang="zh-TW" altLang="en-US" sz="1000" dirty="0"/>
              <a:t>最佳折衷方案 </a:t>
            </a:r>
            <a:r>
              <a:rPr lang="en-US" altLang="zh-TW" sz="1000" dirty="0"/>
              <a:t>(Knee Point / Best Trade-off)】★</a:t>
            </a:r>
          </a:p>
          <a:p>
            <a:r>
              <a:rPr lang="en-US" altLang="zh-TW" sz="1000" dirty="0"/>
              <a:t>====================================================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最高車速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)     : 1.91 m/s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最大加速度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  : 0.60 m/s²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安全距離權重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w_safe</a:t>
            </a:r>
            <a:r>
              <a:rPr lang="en-US" altLang="zh-TW" sz="1000" dirty="0"/>
              <a:t>): 9.95</a:t>
            </a:r>
          </a:p>
          <a:p>
            <a:r>
              <a:rPr lang="en-US" altLang="zh-TW" sz="1000" dirty="0"/>
              <a:t> ▸ </a:t>
            </a:r>
            <a:r>
              <a:rPr lang="zh-TW" altLang="en-US" sz="1000" dirty="0"/>
              <a:t>轉向靈敏度 </a:t>
            </a:r>
            <a:r>
              <a:rPr lang="en-US" altLang="zh-TW" sz="1000" dirty="0"/>
              <a:t>(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)  : 1.35</a:t>
            </a:r>
          </a:p>
          <a:p>
            <a:r>
              <a:rPr lang="en-US" altLang="zh-TW" sz="1000" dirty="0"/>
              <a:t> ▸ MPC Q/R </a:t>
            </a:r>
            <a:r>
              <a:rPr lang="zh-TW" altLang="en-US" sz="1000" dirty="0"/>
              <a:t>比值         </a:t>
            </a:r>
            <a:r>
              <a:rPr lang="en-US" altLang="zh-TW" sz="1000" dirty="0"/>
              <a:t>: 985.7</a:t>
            </a:r>
          </a:p>
          <a:p>
            <a:r>
              <a:rPr lang="en-US" altLang="zh-TW" sz="1000" dirty="0"/>
              <a:t>---------------------------------------------</a:t>
            </a:r>
          </a:p>
          <a:p>
            <a:r>
              <a:rPr lang="en-US" altLang="zh-TW" sz="1000" dirty="0"/>
              <a:t> </a:t>
            </a:r>
            <a:r>
              <a:rPr lang="zh-TW" altLang="en-US" sz="1000" dirty="0"/>
              <a:t>🎯 執行時間 </a:t>
            </a:r>
            <a:r>
              <a:rPr lang="en-US" altLang="zh-TW" sz="1000" dirty="0"/>
              <a:t>(Exec Time) : 72.35 </a:t>
            </a:r>
            <a:r>
              <a:rPr lang="zh-TW" altLang="en-US" sz="1000" dirty="0"/>
              <a:t>秒</a:t>
            </a:r>
          </a:p>
          <a:p>
            <a:r>
              <a:rPr lang="zh-TW" altLang="en-US" sz="1000" dirty="0"/>
              <a:t> 🎯 碰撞風險 </a:t>
            </a:r>
            <a:r>
              <a:rPr lang="en-US" altLang="zh-TW" sz="1000" dirty="0"/>
              <a:t>(Risk Score): 1.45</a:t>
            </a:r>
          </a:p>
          <a:p>
            <a:r>
              <a:rPr lang="en-US" altLang="zh-TW" sz="1000" dirty="0"/>
              <a:t>====================================================</a:t>
            </a:r>
            <a:endParaRPr lang="zh-TW" altLang="en-US" sz="10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A6ED926-0BFB-B55B-5D81-19911A53A0CF}"/>
              </a:ext>
            </a:extLst>
          </p:cNvPr>
          <p:cNvSpPr txBox="1"/>
          <p:nvPr/>
        </p:nvSpPr>
        <p:spPr>
          <a:xfrm>
            <a:off x="349358" y="699083"/>
            <a:ext cx="5962749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# -----------------------------------------------------------</a:t>
            </a:r>
          </a:p>
          <a:p>
            <a:r>
              <a:rPr lang="en-US" altLang="zh-TW" sz="1000" dirty="0"/>
              <a:t># </a:t>
            </a:r>
            <a:r>
              <a:rPr lang="zh-TW" altLang="en-US" sz="1000" dirty="0"/>
              <a:t>模擬多維度 </a:t>
            </a:r>
            <a:r>
              <a:rPr lang="en-US" altLang="zh-TW" sz="1000" dirty="0"/>
              <a:t>AMR </a:t>
            </a:r>
            <a:r>
              <a:rPr lang="zh-TW" altLang="en-US" sz="1000" dirty="0"/>
              <a:t>黑盒評價方程 </a:t>
            </a:r>
            <a:r>
              <a:rPr lang="en-US" altLang="zh-TW" sz="1000" dirty="0"/>
              <a:t>(</a:t>
            </a:r>
            <a:r>
              <a:rPr lang="zh-TW" altLang="en-US" sz="1000" dirty="0"/>
              <a:t>綜合考慮物理動態與控制</a:t>
            </a:r>
            <a:r>
              <a:rPr lang="en-US" altLang="zh-TW" sz="1000" dirty="0"/>
              <a:t>):</a:t>
            </a:r>
          </a:p>
          <a:p>
            <a:r>
              <a:rPr lang="en-US" altLang="zh-TW" sz="1000" dirty="0"/>
              <a:t># -----------------------------------------------------------</a:t>
            </a:r>
          </a:p>
          <a:p>
            <a:r>
              <a:rPr lang="en-US" altLang="zh-TW" sz="1000" dirty="0"/>
              <a:t># 1. </a:t>
            </a:r>
            <a:r>
              <a:rPr lang="zh-TW" altLang="en-US" sz="1000" dirty="0"/>
              <a:t>執行時間 </a:t>
            </a:r>
            <a:r>
              <a:rPr lang="en-US" altLang="zh-TW" sz="1000" dirty="0"/>
              <a:t>Time: </a:t>
            </a:r>
            <a:r>
              <a:rPr lang="zh-TW" altLang="en-US" sz="1000" dirty="0"/>
              <a:t>受最高速度限制，但加速度大降速快；轉向太靈敏可能震盪耗時</a:t>
            </a:r>
          </a:p>
          <a:p>
            <a:r>
              <a:rPr lang="zh-TW" altLang="en-US" sz="1000" dirty="0"/>
              <a:t>        </a:t>
            </a:r>
            <a:r>
              <a:rPr lang="en-US" altLang="zh-TW" sz="1000" dirty="0" err="1"/>
              <a:t>execution_time</a:t>
            </a:r>
            <a:r>
              <a:rPr lang="en-US" altLang="zh-TW" sz="1000" dirty="0"/>
              <a:t> = (100.0 / 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) + (10.0 /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+ (0.3 *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) + (0.2 * </a:t>
            </a:r>
            <a:r>
              <a:rPr lang="en-US" altLang="zh-TW" sz="1000" dirty="0" err="1"/>
              <a:t>k_steer</a:t>
            </a:r>
            <a:r>
              <a:rPr lang="en-US" altLang="zh-TW" sz="1000" dirty="0"/>
              <a:t>)</a:t>
            </a:r>
          </a:p>
          <a:p>
            <a:r>
              <a:rPr lang="en-US" altLang="zh-TW" sz="1000" dirty="0"/>
              <a:t>        </a:t>
            </a:r>
          </a:p>
          <a:p>
            <a:r>
              <a:rPr lang="en-US" altLang="zh-TW" sz="1000" dirty="0"/>
              <a:t># 2. </a:t>
            </a:r>
            <a:r>
              <a:rPr lang="zh-TW" altLang="en-US" sz="1000" dirty="0"/>
              <a:t>碰撞與不平穩風險 </a:t>
            </a:r>
            <a:r>
              <a:rPr lang="en-US" altLang="zh-TW" sz="1000" dirty="0"/>
              <a:t>Risk: </a:t>
            </a:r>
            <a:r>
              <a:rPr lang="zh-TW" altLang="en-US" sz="1000" dirty="0"/>
              <a:t>速度與加速度越大風險越高；安全權重與 </a:t>
            </a:r>
            <a:r>
              <a:rPr lang="en-US" altLang="zh-TW" sz="1000" dirty="0"/>
              <a:t>MPC </a:t>
            </a:r>
            <a:r>
              <a:rPr lang="zh-TW" altLang="en-US" sz="1000" dirty="0"/>
              <a:t>比值越大越平穩</a:t>
            </a:r>
            <a:r>
              <a:rPr lang="en-US" altLang="zh-TW" sz="1000" dirty="0"/>
              <a:t>(</a:t>
            </a:r>
            <a:r>
              <a:rPr lang="zh-TW" altLang="en-US" sz="1000" dirty="0"/>
              <a:t>風險低</a:t>
            </a:r>
            <a:r>
              <a:rPr lang="en-US" altLang="zh-TW" sz="1000" dirty="0"/>
              <a:t>)</a:t>
            </a:r>
          </a:p>
          <a:p>
            <a:r>
              <a:rPr lang="en-US" altLang="zh-TW" sz="1000" dirty="0"/>
              <a:t>        </a:t>
            </a:r>
            <a:r>
              <a:rPr lang="en-US" altLang="zh-TW" sz="1000" dirty="0" err="1"/>
              <a:t>collision_risk</a:t>
            </a:r>
            <a:r>
              <a:rPr lang="en-US" altLang="zh-TW" sz="1000" dirty="0"/>
              <a:t> = (0.15 * (</a:t>
            </a:r>
            <a:r>
              <a:rPr lang="en-US" altLang="zh-TW" sz="1000" dirty="0" err="1"/>
              <a:t>v_max</a:t>
            </a:r>
            <a:r>
              <a:rPr lang="en-US" altLang="zh-TW" sz="1000" dirty="0"/>
              <a:t> ** 2)) + (0.5 * </a:t>
            </a:r>
            <a:r>
              <a:rPr lang="en-US" altLang="zh-TW" sz="1000" dirty="0" err="1"/>
              <a:t>a_max</a:t>
            </a:r>
            <a:r>
              <a:rPr lang="en-US" altLang="zh-TW" sz="1000" dirty="0"/>
              <a:t>) + (5.0 / </a:t>
            </a:r>
            <a:r>
              <a:rPr lang="en-US" altLang="zh-TW" sz="1000" dirty="0" err="1"/>
              <a:t>w_safety</a:t>
            </a:r>
            <a:r>
              <a:rPr lang="en-US" altLang="zh-TW" sz="1000" dirty="0"/>
              <a:t>) + (100.0 / </a:t>
            </a:r>
            <a:r>
              <a:rPr lang="en-US" altLang="zh-TW" sz="1000" dirty="0" err="1"/>
              <a:t>q_r_ratio</a:t>
            </a:r>
            <a:r>
              <a:rPr lang="en-US" altLang="zh-TW" sz="1000" dirty="0"/>
              <a:t>)</a:t>
            </a:r>
            <a:endParaRPr lang="zh-TW" altLang="en-US" sz="10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E515B05-6EFC-8A27-8823-229F0A77CE2B}"/>
              </a:ext>
            </a:extLst>
          </p:cNvPr>
          <p:cNvSpPr txBox="1"/>
          <p:nvPr/>
        </p:nvSpPr>
        <p:spPr>
          <a:xfrm>
            <a:off x="6580337" y="912357"/>
            <a:ext cx="5445759" cy="17851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000" dirty="0"/>
              <a:t># === 【GA </a:t>
            </a:r>
            <a:r>
              <a:rPr lang="zh-TW" altLang="en-US" sz="1000" dirty="0"/>
              <a:t>參數可調區域</a:t>
            </a:r>
            <a:r>
              <a:rPr lang="en-US" altLang="zh-TW" sz="1000" dirty="0"/>
              <a:t>】 ===</a:t>
            </a:r>
          </a:p>
          <a:p>
            <a:r>
              <a:rPr lang="en-US" altLang="zh-TW" sz="1000" dirty="0"/>
              <a:t>POP_SIZE = 60          # </a:t>
            </a:r>
            <a:r>
              <a:rPr lang="zh-TW" altLang="en-US" sz="1000" dirty="0"/>
              <a:t>族群大小 </a:t>
            </a:r>
            <a:r>
              <a:rPr lang="en-US" altLang="zh-TW" sz="1000" dirty="0"/>
              <a:t>(Population Size)</a:t>
            </a:r>
          </a:p>
          <a:p>
            <a:r>
              <a:rPr lang="en-US" altLang="zh-TW" sz="1000" dirty="0"/>
              <a:t>N_GEN = 50             # </a:t>
            </a:r>
            <a:r>
              <a:rPr lang="zh-TW" altLang="en-US" sz="1000" dirty="0"/>
              <a:t>演化代數 </a:t>
            </a:r>
            <a:r>
              <a:rPr lang="en-US" altLang="zh-TW" sz="1000" dirty="0"/>
              <a:t>(Generations)</a:t>
            </a:r>
          </a:p>
          <a:p>
            <a:endParaRPr lang="en-US" altLang="zh-TW" sz="1000" dirty="0"/>
          </a:p>
          <a:p>
            <a:r>
              <a:rPr lang="en-US" altLang="zh-TW" sz="1000" dirty="0"/>
              <a:t># SBX </a:t>
            </a:r>
            <a:r>
              <a:rPr lang="zh-TW" altLang="en-US" sz="1000" dirty="0"/>
              <a:t>交叉算子設定 </a:t>
            </a:r>
            <a:r>
              <a:rPr lang="en-US" altLang="zh-TW" sz="1000" dirty="0"/>
              <a:t>(Simulated Binary Crossover)</a:t>
            </a:r>
          </a:p>
          <a:p>
            <a:r>
              <a:rPr lang="en-US" altLang="zh-TW" sz="1000" dirty="0"/>
              <a:t>CROSSOVER_PROB = 0.9   # </a:t>
            </a:r>
            <a:r>
              <a:rPr lang="zh-TW" altLang="en-US" sz="1000" dirty="0"/>
              <a:t>交叉機率 </a:t>
            </a:r>
            <a:r>
              <a:rPr lang="en-US" altLang="zh-TW" sz="1000" dirty="0"/>
              <a:t>(</a:t>
            </a:r>
            <a:r>
              <a:rPr lang="zh-TW" altLang="en-US" sz="1000" dirty="0"/>
              <a:t>預設 </a:t>
            </a:r>
            <a:r>
              <a:rPr lang="en-US" altLang="zh-TW" sz="1000" dirty="0"/>
              <a:t>0.9)</a:t>
            </a:r>
          </a:p>
          <a:p>
            <a:r>
              <a:rPr lang="en-US" altLang="zh-TW" sz="1000" dirty="0"/>
              <a:t>ETA_C = 15.0           # </a:t>
            </a:r>
            <a:r>
              <a:rPr lang="zh-TW" altLang="en-US" sz="1000" dirty="0"/>
              <a:t>交叉分佈指數 </a:t>
            </a:r>
            <a:r>
              <a:rPr lang="el-GR" altLang="zh-TW" sz="1000" dirty="0"/>
              <a:t>η_</a:t>
            </a:r>
            <a:r>
              <a:rPr lang="en-US" altLang="zh-TW" sz="1000" dirty="0"/>
              <a:t>c (</a:t>
            </a:r>
            <a:r>
              <a:rPr lang="zh-TW" altLang="en-US" sz="1000" dirty="0"/>
              <a:t>值越大搜尋越保守，值越小搜尋越激進</a:t>
            </a:r>
            <a:r>
              <a:rPr lang="en-US" altLang="zh-TW" sz="1000" dirty="0"/>
              <a:t>)</a:t>
            </a:r>
          </a:p>
          <a:p>
            <a:endParaRPr lang="en-US" altLang="zh-TW" sz="1000" dirty="0"/>
          </a:p>
          <a:p>
            <a:r>
              <a:rPr lang="en-US" altLang="zh-TW" sz="1000" dirty="0"/>
              <a:t># </a:t>
            </a:r>
            <a:r>
              <a:rPr lang="zh-TW" altLang="en-US" sz="1000" dirty="0"/>
              <a:t>多項式突變算子設定 </a:t>
            </a:r>
            <a:r>
              <a:rPr lang="en-US" altLang="zh-TW" sz="1000" dirty="0"/>
              <a:t>(Polynomial Mutation)</a:t>
            </a:r>
          </a:p>
          <a:p>
            <a:r>
              <a:rPr lang="en-US" altLang="zh-TW" sz="1000" dirty="0"/>
              <a:t>MUTATION_PROB = 0.2    # </a:t>
            </a:r>
            <a:r>
              <a:rPr lang="zh-TW" altLang="en-US" sz="1000" dirty="0"/>
              <a:t>突變機率 </a:t>
            </a:r>
            <a:r>
              <a:rPr lang="en-US" altLang="zh-TW" sz="1000" dirty="0"/>
              <a:t>(</a:t>
            </a:r>
            <a:r>
              <a:rPr lang="zh-TW" altLang="en-US" sz="1000" dirty="0"/>
              <a:t>建議設為 </a:t>
            </a:r>
            <a:r>
              <a:rPr lang="en-US" altLang="zh-TW" sz="1000" dirty="0"/>
              <a:t>1/</a:t>
            </a:r>
            <a:r>
              <a:rPr lang="en-US" altLang="zh-TW" sz="1000" dirty="0" err="1"/>
              <a:t>n_var</a:t>
            </a:r>
            <a:r>
              <a:rPr lang="en-US" altLang="zh-TW" sz="1000" dirty="0"/>
              <a:t> = 1/5 = 0.2)</a:t>
            </a:r>
          </a:p>
          <a:p>
            <a:r>
              <a:rPr lang="en-US" altLang="zh-TW" sz="1000" b="1" dirty="0">
                <a:solidFill>
                  <a:srgbClr val="00B0F0"/>
                </a:solidFill>
              </a:rPr>
              <a:t>ETA_M = 0.00001           # </a:t>
            </a:r>
            <a:r>
              <a:rPr lang="zh-TW" altLang="en-US" sz="1000" b="1" dirty="0">
                <a:solidFill>
                  <a:srgbClr val="00B0F0"/>
                </a:solidFill>
              </a:rPr>
              <a:t>突變分佈指數 </a:t>
            </a:r>
            <a:r>
              <a:rPr lang="el-GR" altLang="zh-TW" sz="1000" b="1" dirty="0">
                <a:solidFill>
                  <a:srgbClr val="00B0F0"/>
                </a:solidFill>
              </a:rPr>
              <a:t>η_</a:t>
            </a:r>
            <a:r>
              <a:rPr lang="en-US" altLang="zh-TW" sz="1000" b="1" dirty="0">
                <a:solidFill>
                  <a:srgbClr val="00B0F0"/>
                </a:solidFill>
              </a:rPr>
              <a:t>m (</a:t>
            </a:r>
            <a:r>
              <a:rPr lang="zh-TW" altLang="en-US" sz="1000" b="1" dirty="0">
                <a:solidFill>
                  <a:srgbClr val="00B0F0"/>
                </a:solidFill>
              </a:rPr>
              <a:t>值越大擾動幅度越小</a:t>
            </a:r>
            <a:r>
              <a:rPr lang="en-US" altLang="zh-TW" sz="1000" b="1" dirty="0">
                <a:solidFill>
                  <a:srgbClr val="00B0F0"/>
                </a:solidFill>
              </a:rPr>
              <a:t>/</a:t>
            </a:r>
            <a:r>
              <a:rPr lang="zh-TW" altLang="en-US" sz="1000" b="1" dirty="0">
                <a:solidFill>
                  <a:srgbClr val="00B0F0"/>
                </a:solidFill>
              </a:rPr>
              <a:t>精細，值越小擾動越劇烈</a:t>
            </a:r>
            <a:r>
              <a:rPr lang="en-US" altLang="zh-TW" sz="1000" b="1" dirty="0">
                <a:solidFill>
                  <a:srgbClr val="00B0F0"/>
                </a:solidFill>
              </a:rPr>
              <a:t>)</a:t>
            </a:r>
            <a:endParaRPr lang="zh-TW" altLang="en-US" sz="1000" b="1" dirty="0">
              <a:solidFill>
                <a:srgbClr val="00B0F0"/>
              </a:solidFill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1953F96D-397B-90FC-6F52-740E077F0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58" y="2215117"/>
            <a:ext cx="5962749" cy="437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7049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7C9A8-F7CE-02EA-C2CC-80D233622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65FE24-E2E9-9066-EEF4-6FCF67EBD63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C114516A-D60B-2B17-C46D-627F14CF03C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9D1B6C2E-5AC9-266E-65A6-E546667692F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lvl="0">
              <a:defRPr/>
            </a:pPr>
            <a:r>
              <a:rPr kumimoji="0" lang="en-US" altLang="zh-TW" sz="2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rPr>
              <a:t>NSGA-II</a:t>
            </a:r>
            <a:r>
              <a:rPr kumimoji="0" lang="zh-TW" altLang="en-US" sz="2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rPr>
              <a:t> 與 </a:t>
            </a:r>
            <a:r>
              <a:rPr kumimoji="0" lang="en-US" altLang="zh-TW" sz="2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rPr>
              <a:t>NSGA-III</a:t>
            </a:r>
            <a:r>
              <a:rPr kumimoji="0" lang="zh-TW" altLang="en-US" sz="2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rPr>
              <a:t> 結果解析</a:t>
            </a: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EC18A42-B974-A515-C63F-54C7015BB0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0406" y="549275"/>
            <a:ext cx="9031188" cy="602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0658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D971C-3464-7233-FE8F-956D28FB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A0A684-ED69-5DF7-1FA0-8D4F4C75A28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4A03510D-5596-FFD9-65FC-013936D7ED9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B44789B3-4F12-4D11-2469-D487076F7AC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lvl="0">
              <a:defRPr/>
            </a:pPr>
            <a:r>
              <a:rPr kumimoji="0" lang="en-US" altLang="zh-TW" sz="2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rPr>
              <a:t>MOO vs. </a:t>
            </a:r>
            <a:r>
              <a:rPr kumimoji="0" lang="en-US" altLang="zh-TW" sz="2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rPr>
              <a:t>MaOO</a:t>
            </a: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09377297-CD67-4420-BC3D-95DCDDB2D804}"/>
              </a:ext>
            </a:extLst>
          </p:cNvPr>
          <p:cNvGrpSpPr/>
          <p:nvPr/>
        </p:nvGrpSpPr>
        <p:grpSpPr>
          <a:xfrm>
            <a:off x="182894" y="1109810"/>
            <a:ext cx="11826212" cy="4638379"/>
            <a:chOff x="1668684" y="1880573"/>
            <a:chExt cx="9144000" cy="3586384"/>
          </a:xfrm>
        </p:grpSpPr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63777DD5-933D-5417-CF13-4D0443E23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295" b="52295"/>
            <a:stretch>
              <a:fillRect/>
            </a:stretch>
          </p:blipFill>
          <p:spPr>
            <a:xfrm>
              <a:off x="1668684" y="2185222"/>
              <a:ext cx="4572000" cy="2977087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C0EAC77F-4DE5-1EBB-AD6C-E4D4D7C15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7705"/>
            <a:stretch>
              <a:fillRect/>
            </a:stretch>
          </p:blipFill>
          <p:spPr>
            <a:xfrm>
              <a:off x="6240684" y="1880573"/>
              <a:ext cx="4572000" cy="35863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828891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石板">
  <a:themeElements>
    <a:clrScheme name="石板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石板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石板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TM04033929[[fn=石板]]</Template>
  <TotalTime>9259</TotalTime>
  <Words>7505</Words>
  <Application>Microsoft Office PowerPoint</Application>
  <PresentationFormat>寬螢幕</PresentationFormat>
  <Paragraphs>602</Paragraphs>
  <Slides>21</Slides>
  <Notes>21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6" baseType="lpstr">
      <vt:lpstr>微軟正黑體</vt:lpstr>
      <vt:lpstr>Aptos</vt:lpstr>
      <vt:lpstr>Calisto MT</vt:lpstr>
      <vt:lpstr>Wingdings 2</vt:lpstr>
      <vt:lpstr>石板</vt:lpstr>
      <vt:lpstr>超參數調配優化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WeiJieChen(陳偉杰)</cp:lastModifiedBy>
  <cp:revision>1026</cp:revision>
  <dcterms:created xsi:type="dcterms:W3CDTF">2026-05-11T05:46:35Z</dcterms:created>
  <dcterms:modified xsi:type="dcterms:W3CDTF">2026-09-28T09:40:57Z</dcterms:modified>
</cp:coreProperties>
</file>